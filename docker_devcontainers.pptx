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71" r:id="rId14"/>
    <p:sldId id="272" r:id="rId15"/>
    <p:sldId id="273" r:id="rId16"/>
    <p:sldId id="274" r:id="rId17"/>
    <p:sldId id="276" r:id="rId18"/>
    <p:sldId id="277" r:id="rId19"/>
    <p:sldId id="278" r:id="rId20"/>
    <p:sldId id="27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62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20-Apr-26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20-Apr-26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20-Apr-26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371600" y="1828800"/>
            <a:ext cx="9448495" cy="1828800"/>
          </a:xfrm>
          <a:prstGeom prst="roundRect">
            <a:avLst>
              <a:gd name="adj" fmla="val 30000"/>
            </a:avLst>
          </a:prstGeom>
          <a:solidFill>
            <a:srgbClr val="FF6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320040" rtlCol="0" anchor="ctr"/>
          <a:lstStyle/>
          <a:p>
            <a:pPr algn="ctr"/>
            <a:r>
              <a:rPr sz="4200" b="1">
                <a:solidFill>
                  <a:srgbClr val="FFFFFF"/>
                </a:solidFill>
                <a:latin typeface="BOG 2018"/>
              </a:rPr>
              <a:t>Docker &amp; Dev Containers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20515"/>
            <a:ext cx="9448495" cy="36576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400" b="0" dirty="0" err="1">
                <a:solidFill>
                  <a:srgbClr val="555555"/>
                </a:solidFill>
                <a:latin typeface="BOG 2018"/>
              </a:rPr>
              <a:t>კონტეინერიზაცია</a:t>
            </a:r>
            <a:r>
              <a:rPr sz="1400" b="0" dirty="0">
                <a:solidFill>
                  <a:srgbClr val="555555"/>
                </a:solidFill>
                <a:latin typeface="BOG 2018"/>
              </a:rPr>
              <a:t>  ·  </a:t>
            </a:r>
            <a:r>
              <a:rPr sz="1400" b="0" dirty="0" err="1">
                <a:solidFill>
                  <a:srgbClr val="555555"/>
                </a:solidFill>
                <a:latin typeface="BOG 2018"/>
              </a:rPr>
              <a:t>Dockerfile</a:t>
            </a:r>
            <a:r>
              <a:rPr sz="1400" b="0" dirty="0">
                <a:solidFill>
                  <a:srgbClr val="555555"/>
                </a:solidFill>
                <a:latin typeface="BOG 2018"/>
              </a:rPr>
              <a:t>  ·  Compose  ·  Dev Containers  ·  Jupyter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6355080"/>
            <a:ext cx="11094415" cy="365760"/>
          </a:xfrm>
          <a:prstGeom prst="roundRect">
            <a:avLst>
              <a:gd name="adj" fmla="val 5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6400800"/>
            <a:ext cx="7315200" cy="301621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000" b="0" dirty="0">
                <a:solidFill>
                  <a:srgbClr val="555555"/>
                </a:solidFill>
                <a:latin typeface="BOG 2018"/>
              </a:rPr>
              <a:t>Docker &amp; Dev Containers  ·  slide 01 / 2</a:t>
            </a:r>
            <a:r>
              <a:rPr lang="en-US" sz="1000" b="0" dirty="0">
                <a:solidFill>
                  <a:srgbClr val="555555"/>
                </a:solidFill>
                <a:latin typeface="BOG 2018"/>
              </a:rPr>
              <a:t>0</a:t>
            </a:r>
            <a:endParaRPr sz="1000" b="0" dirty="0">
              <a:solidFill>
                <a:srgbClr val="555555"/>
              </a:solidFill>
              <a:latin typeface="BOG 2018"/>
            </a:endParaRPr>
          </a:p>
        </p:txBody>
      </p:sp>
      <p:sp>
        <p:nvSpPr>
          <p:cNvPr id="8" name="Oval 7"/>
          <p:cNvSpPr/>
          <p:nvPr/>
        </p:nvSpPr>
        <p:spPr>
          <a:xfrm>
            <a:off x="11368735" y="6428232"/>
            <a:ext cx="128016" cy="128016"/>
          </a:xfrm>
          <a:prstGeom prst="ellipse">
            <a:avLst/>
          </a:prstGeom>
          <a:solidFill>
            <a:srgbClr val="FF6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777240"/>
          </a:xfrm>
          <a:prstGeom prst="roundRect">
            <a:avLst>
              <a:gd name="adj" fmla="val 35000"/>
            </a:avLst>
          </a:prstGeom>
          <a:solidFill>
            <a:srgbClr val="FF6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91440" rtlCol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BOG 2018"/>
              </a:rPr>
              <a:t>სარჩევი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731520"/>
          </a:xfrm>
          <a:prstGeom prst="roundRect">
            <a:avLst>
              <a:gd name="adj" fmla="val 25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527048"/>
            <a:ext cx="5486400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BOG 2018"/>
              </a:rPr>
              <a:t>1  ·  კონტეინერიზაციის საფუძვლები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554480"/>
            <a:ext cx="4572000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BOG 2018"/>
              </a:rPr>
              <a:t>VM vs Container, არქიტექტურა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11094415" cy="731520"/>
          </a:xfrm>
          <a:prstGeom prst="roundRect">
            <a:avLst>
              <a:gd name="adj" fmla="val 25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350008"/>
            <a:ext cx="5486400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BOG 2018"/>
              </a:rPr>
              <a:t>2  ·  Docker-ის ძირითადი ობიექტები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377440"/>
            <a:ext cx="4572000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BOG 2018"/>
              </a:rPr>
              <a:t>Image, Container, Dockerfile, CLI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063240"/>
            <a:ext cx="11094415" cy="731520"/>
          </a:xfrm>
          <a:prstGeom prst="roundRect">
            <a:avLst>
              <a:gd name="adj" fmla="val 25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172968"/>
            <a:ext cx="5486400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BOG 2018"/>
              </a:rPr>
              <a:t>3  ·  მონაცემები და ქსელი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3200400"/>
            <a:ext cx="4572000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BOG 2018"/>
              </a:rPr>
              <a:t>Volumes, Networking, Port Mapping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86200"/>
            <a:ext cx="11094415" cy="731520"/>
          </a:xfrm>
          <a:prstGeom prst="roundRect">
            <a:avLst>
              <a:gd name="adj" fmla="val 25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3995928"/>
            <a:ext cx="5486400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BOG 2018"/>
              </a:rPr>
              <a:t>4  ·  Docker Compose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023360"/>
            <a:ext cx="4572000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BOG 2018"/>
              </a:rPr>
              <a:t>მრავალკონტეინერიანი აპლიკაციები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709160"/>
            <a:ext cx="11094415" cy="731520"/>
          </a:xfrm>
          <a:prstGeom prst="roundRect">
            <a:avLst>
              <a:gd name="adj" fmla="val 25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4818888"/>
            <a:ext cx="5486400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BOG 2018"/>
              </a:rPr>
              <a:t>5  ·  Dev Containers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846320"/>
            <a:ext cx="4572000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BOG 2018"/>
              </a:rPr>
              <a:t>VS Code ინტეგრაცია, Codespaces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532120"/>
            <a:ext cx="11094415" cy="731520"/>
          </a:xfrm>
          <a:prstGeom prst="roundRect">
            <a:avLst>
              <a:gd name="adj" fmla="val 25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641848"/>
            <a:ext cx="5486400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800" b="1">
                <a:solidFill>
                  <a:srgbClr val="1A1A1A"/>
                </a:solidFill>
                <a:latin typeface="BOG 2018"/>
              </a:rPr>
              <a:t>6  ·  პრაქტიკა: Jupyter Docker-ში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5669280"/>
            <a:ext cx="4572000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BOG 2018"/>
              </a:rPr>
              <a:t>Dockerfile, DevContainer, Compose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6355080"/>
            <a:ext cx="11094415" cy="365760"/>
          </a:xfrm>
          <a:prstGeom prst="roundRect">
            <a:avLst>
              <a:gd name="adj" fmla="val 5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6400800"/>
            <a:ext cx="7315200" cy="301621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000" b="0" dirty="0">
                <a:solidFill>
                  <a:srgbClr val="555555"/>
                </a:solidFill>
                <a:latin typeface="BOG 2018"/>
              </a:rPr>
              <a:t>Docker &amp; Dev Containers  ·  slide 02 / 2</a:t>
            </a:r>
            <a:r>
              <a:rPr lang="en-US" sz="1000" b="0" dirty="0">
                <a:solidFill>
                  <a:srgbClr val="555555"/>
                </a:solidFill>
                <a:latin typeface="BOG 2018"/>
              </a:rPr>
              <a:t>0</a:t>
            </a:r>
            <a:endParaRPr sz="1000" b="0" dirty="0">
              <a:solidFill>
                <a:srgbClr val="555555"/>
              </a:solidFill>
              <a:latin typeface="BOG 2018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1368735" y="6428232"/>
            <a:ext cx="128016" cy="128016"/>
          </a:xfrm>
          <a:prstGeom prst="ellipse">
            <a:avLst/>
          </a:prstGeom>
          <a:solidFill>
            <a:srgbClr val="FF6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777240"/>
          </a:xfrm>
          <a:prstGeom prst="roundRect">
            <a:avLst>
              <a:gd name="adj" fmla="val 35000"/>
            </a:avLst>
          </a:prstGeom>
          <a:solidFill>
            <a:srgbClr val="FF6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91440" rtlCol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BOG 2018"/>
              </a:rPr>
              <a:t>პრობლემა: "Works on my machine"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554480"/>
            <a:ext cx="9448495" cy="2636520"/>
          </a:xfrm>
          <a:prstGeom prst="roundRect">
            <a:avLst>
              <a:gd name="adj" fmla="val 12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1783080"/>
            <a:ext cx="8534095" cy="54864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2400" b="1">
                <a:solidFill>
                  <a:srgbClr val="FF6022"/>
                </a:solidFill>
                <a:latin typeface="BOG 2018"/>
              </a:rPr>
              <a:t>ჩემთან მუშაობს  ✓          შენთან არ მუშაობს  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468880"/>
            <a:ext cx="8229600" cy="18288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BOG 2018"/>
              </a:rPr>
              <a:t>·  Python ვერსიის სხვაობა  (3.9 vs 3.12)</a:t>
            </a:r>
          </a:p>
          <a:p>
            <a:pPr algn="l"/>
            <a:r>
              <a:rPr sz="1600" b="0">
                <a:solidFill>
                  <a:srgbClr val="1A1A1A"/>
                </a:solidFill>
                <a:latin typeface="BOG 2018"/>
              </a:rPr>
              <a:t>·  ბიბლიოთეკის ვერსიის სხვაობა</a:t>
            </a:r>
          </a:p>
          <a:p>
            <a:pPr algn="l"/>
            <a:r>
              <a:rPr sz="1600" b="0">
                <a:solidFill>
                  <a:srgbClr val="1A1A1A"/>
                </a:solidFill>
                <a:latin typeface="BOG 2018"/>
              </a:rPr>
              <a:t>·  OS სხვაობა  (Windows vs macOS vs Linux)</a:t>
            </a:r>
          </a:p>
          <a:p>
            <a:pPr algn="l"/>
            <a:r>
              <a:rPr sz="1600" b="0">
                <a:solidFill>
                  <a:srgbClr val="1A1A1A"/>
                </a:solidFill>
                <a:latin typeface="BOG 2018"/>
              </a:rPr>
              <a:t>·  სისტემური ბიბლიოთეკების ნაკლებობა</a:t>
            </a:r>
          </a:p>
          <a:p>
            <a:pPr algn="l"/>
            <a:r>
              <a:rPr sz="1600" b="0">
                <a:solidFill>
                  <a:srgbClr val="1A1A1A"/>
                </a:solidFill>
                <a:latin typeface="BOG 2018"/>
              </a:rPr>
              <a:t>·  Environment variables-ის განსხვავება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754880"/>
            <a:ext cx="11094415" cy="685800"/>
          </a:xfrm>
          <a:prstGeom prst="roundRect">
            <a:avLst>
              <a:gd name="adj" fmla="val 35000"/>
            </a:avLst>
          </a:prstGeom>
          <a:solidFill>
            <a:srgbClr val="FF6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11094415" cy="50292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OG 2018"/>
              </a:rPr>
              <a:t>გამოსავალი →  აპლიკაცია + მთელი გარემო ერთ "ყუთში" = Docker Container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6355080"/>
            <a:ext cx="11094415" cy="365760"/>
          </a:xfrm>
          <a:prstGeom prst="roundRect">
            <a:avLst>
              <a:gd name="adj" fmla="val 5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6400800"/>
            <a:ext cx="7315200" cy="301621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000" b="0" dirty="0">
                <a:solidFill>
                  <a:srgbClr val="555555"/>
                </a:solidFill>
                <a:latin typeface="BOG 2018"/>
              </a:rPr>
              <a:t>Docker &amp; Dev Containers  ·  slide 03 / 2</a:t>
            </a:r>
            <a:r>
              <a:rPr lang="en-US" sz="1000" b="0" dirty="0">
                <a:solidFill>
                  <a:srgbClr val="555555"/>
                </a:solidFill>
                <a:latin typeface="BOG 2018"/>
              </a:rPr>
              <a:t>0</a:t>
            </a:r>
            <a:endParaRPr sz="1000" b="0" dirty="0">
              <a:solidFill>
                <a:srgbClr val="555555"/>
              </a:solidFill>
              <a:latin typeface="BOG 2018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1368735" y="6428232"/>
            <a:ext cx="128016" cy="128016"/>
          </a:xfrm>
          <a:prstGeom prst="ellipse">
            <a:avLst/>
          </a:prstGeom>
          <a:solidFill>
            <a:srgbClr val="FF6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777240"/>
          </a:xfrm>
          <a:prstGeom prst="roundRect">
            <a:avLst>
              <a:gd name="adj" fmla="val 35000"/>
            </a:avLst>
          </a:prstGeom>
          <a:solidFill>
            <a:srgbClr val="FF6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91440" rtlCol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BOG 2018"/>
              </a:rPr>
              <a:t>Virtual Machine  vs  Container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5318607" cy="36576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2200" b="1">
                <a:solidFill>
                  <a:srgbClr val="1A1A1A"/>
                </a:solidFill>
                <a:latin typeface="BOG 2018"/>
              </a:rPr>
              <a:t>Virtual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4447" y="1234440"/>
            <a:ext cx="5318607" cy="36576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2200" b="1">
                <a:solidFill>
                  <a:srgbClr val="FF6022"/>
                </a:solidFill>
                <a:latin typeface="BOG 2018"/>
              </a:rPr>
              <a:t>Container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318607" cy="3657600"/>
          </a:xfrm>
          <a:prstGeom prst="roundRect">
            <a:avLst>
              <a:gd name="adj" fmla="val 4000"/>
            </a:avLst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764792"/>
            <a:ext cx="5318607" cy="237744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BOG 2018"/>
              </a:rPr>
              <a:t>Hardware (HOST)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029968"/>
            <a:ext cx="5099151" cy="3255264"/>
          </a:xfrm>
          <a:prstGeom prst="roundRect">
            <a:avLst>
              <a:gd name="adj" fmla="val 4000"/>
            </a:avLst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2057400"/>
            <a:ext cx="5099151" cy="237744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BOG 2018"/>
              </a:rPr>
              <a:t>Host 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" y="2322576"/>
            <a:ext cx="4879695" cy="2852928"/>
          </a:xfrm>
          <a:prstGeom prst="roundRect">
            <a:avLst>
              <a:gd name="adj" fmla="val 4000"/>
            </a:avLst>
          </a:prstGeom>
          <a:solidFill>
            <a:srgbClr val="FF6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2350008"/>
            <a:ext cx="4879695" cy="237744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BOG 2018"/>
              </a:rPr>
              <a:t>Hypervisor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4" y="2615184"/>
            <a:ext cx="1492453" cy="24505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7824" y="2651760"/>
            <a:ext cx="1492453" cy="219456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900" b="1">
                <a:solidFill>
                  <a:srgbClr val="555555"/>
                </a:solidFill>
                <a:latin typeface="BOG 2018"/>
              </a:rPr>
              <a:t>VM #1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1832" y="2889504"/>
            <a:ext cx="1364437" cy="670560"/>
          </a:xfrm>
          <a:prstGeom prst="roundRect">
            <a:avLst>
              <a:gd name="adj" fmla="val 20000"/>
            </a:avLst>
          </a:prstGeom>
          <a:solidFill>
            <a:srgbClr val="FF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" y="2889504"/>
            <a:ext cx="1364437" cy="67056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000" b="1">
                <a:solidFill>
                  <a:srgbClr val="FF6022"/>
                </a:solidFill>
                <a:latin typeface="BOG 2018"/>
              </a:rPr>
              <a:t>App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832" y="3605784"/>
            <a:ext cx="1364437" cy="670560"/>
          </a:xfrm>
          <a:prstGeom prst="roundRect">
            <a:avLst>
              <a:gd name="adj" fmla="val 2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" y="3605784"/>
            <a:ext cx="1364437" cy="67056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BOG 2018"/>
              </a:rPr>
              <a:t>Libs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" y="4322064"/>
            <a:ext cx="1364437" cy="670560"/>
          </a:xfrm>
          <a:prstGeom prst="roundRect">
            <a:avLst>
              <a:gd name="adj" fmla="val 20000"/>
            </a:avLst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1832" y="4322064"/>
            <a:ext cx="1364437" cy="67056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BOG 2018"/>
              </a:rPr>
              <a:t>Guest OS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BOG 2018"/>
              </a:rPr>
              <a:t>+ Kernel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61717" y="2615184"/>
            <a:ext cx="1492453" cy="24505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461717" y="2651760"/>
            <a:ext cx="1492453" cy="219456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900" b="1">
                <a:solidFill>
                  <a:srgbClr val="555555"/>
                </a:solidFill>
                <a:latin typeface="BOG 2018"/>
              </a:rPr>
              <a:t>VM #2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25725" y="2889504"/>
            <a:ext cx="1364437" cy="670560"/>
          </a:xfrm>
          <a:prstGeom prst="roundRect">
            <a:avLst>
              <a:gd name="adj" fmla="val 20000"/>
            </a:avLst>
          </a:prstGeom>
          <a:solidFill>
            <a:srgbClr val="FF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525725" y="2889504"/>
            <a:ext cx="1364437" cy="67056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000" b="1">
                <a:solidFill>
                  <a:srgbClr val="FF6022"/>
                </a:solidFill>
                <a:latin typeface="BOG 2018"/>
              </a:rPr>
              <a:t>App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25725" y="3605784"/>
            <a:ext cx="1364437" cy="670560"/>
          </a:xfrm>
          <a:prstGeom prst="roundRect">
            <a:avLst>
              <a:gd name="adj" fmla="val 2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525725" y="3605784"/>
            <a:ext cx="1364437" cy="67056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BOG 2018"/>
              </a:rPr>
              <a:t>Libs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25725" y="4322064"/>
            <a:ext cx="1364437" cy="670560"/>
          </a:xfrm>
          <a:prstGeom prst="roundRect">
            <a:avLst>
              <a:gd name="adj" fmla="val 20000"/>
            </a:avLst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525725" y="4322064"/>
            <a:ext cx="1364437" cy="67056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BOG 2018"/>
              </a:rPr>
              <a:t>Guest OS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BOG 2018"/>
              </a:rPr>
              <a:t>+ Kernel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45610" y="2615184"/>
            <a:ext cx="1492453" cy="24505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6DF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045610" y="2651760"/>
            <a:ext cx="1492453" cy="219456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900" b="1">
                <a:solidFill>
                  <a:srgbClr val="555555"/>
                </a:solidFill>
                <a:latin typeface="BOG 2018"/>
              </a:rPr>
              <a:t>VM #3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09618" y="2889504"/>
            <a:ext cx="1364437" cy="670560"/>
          </a:xfrm>
          <a:prstGeom prst="roundRect">
            <a:avLst>
              <a:gd name="adj" fmla="val 20000"/>
            </a:avLst>
          </a:prstGeom>
          <a:solidFill>
            <a:srgbClr val="FF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109618" y="2889504"/>
            <a:ext cx="1364437" cy="67056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000" b="1">
                <a:solidFill>
                  <a:srgbClr val="FF6022"/>
                </a:solidFill>
                <a:latin typeface="BOG 2018"/>
              </a:rPr>
              <a:t>App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09618" y="3605784"/>
            <a:ext cx="1364437" cy="670560"/>
          </a:xfrm>
          <a:prstGeom prst="roundRect">
            <a:avLst>
              <a:gd name="adj" fmla="val 2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109618" y="3605784"/>
            <a:ext cx="1364437" cy="67056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  <a:latin typeface="BOG 2018"/>
              </a:rPr>
              <a:t>Libs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09618" y="4322064"/>
            <a:ext cx="1364437" cy="670560"/>
          </a:xfrm>
          <a:prstGeom prst="roundRect">
            <a:avLst>
              <a:gd name="adj" fmla="val 20000"/>
            </a:avLst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09618" y="4322064"/>
            <a:ext cx="1364437" cy="67056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BOG 2018"/>
              </a:rPr>
              <a:t>Guest OS</a:t>
            </a:r>
          </a:p>
          <a:p>
            <a:pPr algn="ctr"/>
            <a:r>
              <a:rPr sz="900" b="1">
                <a:solidFill>
                  <a:srgbClr val="FFFFFF"/>
                </a:solidFill>
                <a:latin typeface="BOG 2018"/>
              </a:rPr>
              <a:t>+ Kernel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24447" y="1737360"/>
            <a:ext cx="5318607" cy="3657600"/>
          </a:xfrm>
          <a:prstGeom prst="roundRect">
            <a:avLst>
              <a:gd name="adj" fmla="val 4000"/>
            </a:avLst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24447" y="1764792"/>
            <a:ext cx="5318607" cy="237744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BOG 2018"/>
              </a:rPr>
              <a:t>Hardware (HOST)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34175" y="2029968"/>
            <a:ext cx="5099151" cy="3255264"/>
          </a:xfrm>
          <a:prstGeom prst="roundRect">
            <a:avLst>
              <a:gd name="adj" fmla="val 4000"/>
            </a:avLst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34175" y="2057400"/>
            <a:ext cx="5099151" cy="237744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BOG 2018"/>
              </a:rPr>
              <a:t>Host OS  (shared Kernel)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43903" y="2322576"/>
            <a:ext cx="4879695" cy="2852928"/>
          </a:xfrm>
          <a:prstGeom prst="roundRect">
            <a:avLst>
              <a:gd name="adj" fmla="val 4000"/>
            </a:avLst>
          </a:prstGeom>
          <a:solidFill>
            <a:srgbClr val="FF6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43903" y="2350008"/>
            <a:ext cx="4879695" cy="237744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BOG 2018"/>
              </a:rPr>
              <a:t>Docker Engine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53631" y="2615184"/>
            <a:ext cx="1492453" cy="24505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F60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653631" y="2651760"/>
            <a:ext cx="1492453" cy="219456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900" b="1">
                <a:solidFill>
                  <a:srgbClr val="FF6022"/>
                </a:solidFill>
                <a:latin typeface="BOG 2018"/>
              </a:rPr>
              <a:t>Container #1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17639" y="2889504"/>
            <a:ext cx="1364437" cy="1024128"/>
          </a:xfrm>
          <a:prstGeom prst="roundRect">
            <a:avLst>
              <a:gd name="adj" fmla="val 20000"/>
            </a:avLst>
          </a:prstGeom>
          <a:solidFill>
            <a:srgbClr val="FF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717639" y="2889504"/>
            <a:ext cx="1364437" cy="1024128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200" b="1">
                <a:solidFill>
                  <a:srgbClr val="FF6022"/>
                </a:solidFill>
                <a:latin typeface="BOG 2018"/>
              </a:rPr>
              <a:t>App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717639" y="3968496"/>
            <a:ext cx="1364437" cy="1024128"/>
          </a:xfrm>
          <a:prstGeom prst="roundRect">
            <a:avLst>
              <a:gd name="adj" fmla="val 2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717639" y="3968496"/>
            <a:ext cx="1364437" cy="1024128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BOG 2018"/>
              </a:rPr>
              <a:t>Libs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37524" y="2615184"/>
            <a:ext cx="1492453" cy="24505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F60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237524" y="2651760"/>
            <a:ext cx="1492453" cy="219456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900" b="1">
                <a:solidFill>
                  <a:srgbClr val="FF6022"/>
                </a:solidFill>
                <a:latin typeface="BOG 2018"/>
              </a:rPr>
              <a:t>Container #2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01532" y="2889504"/>
            <a:ext cx="1364437" cy="1024128"/>
          </a:xfrm>
          <a:prstGeom prst="roundRect">
            <a:avLst>
              <a:gd name="adj" fmla="val 20000"/>
            </a:avLst>
          </a:prstGeom>
          <a:solidFill>
            <a:srgbClr val="FF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301532" y="2889504"/>
            <a:ext cx="1364437" cy="1024128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200" b="1">
                <a:solidFill>
                  <a:srgbClr val="FF6022"/>
                </a:solidFill>
                <a:latin typeface="BOG 2018"/>
              </a:rPr>
              <a:t>App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01532" y="3968496"/>
            <a:ext cx="1364437" cy="1024128"/>
          </a:xfrm>
          <a:prstGeom prst="roundRect">
            <a:avLst>
              <a:gd name="adj" fmla="val 2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301532" y="3968496"/>
            <a:ext cx="1364437" cy="1024128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BOG 2018"/>
              </a:rPr>
              <a:t>Libs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821417" y="2615184"/>
            <a:ext cx="1492453" cy="245059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F60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821417" y="2651760"/>
            <a:ext cx="1492453" cy="219456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900" b="1">
                <a:solidFill>
                  <a:srgbClr val="FF6022"/>
                </a:solidFill>
                <a:latin typeface="BOG 2018"/>
              </a:rPr>
              <a:t>Container #3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85425" y="2889504"/>
            <a:ext cx="1364437" cy="1024128"/>
          </a:xfrm>
          <a:prstGeom prst="roundRect">
            <a:avLst>
              <a:gd name="adj" fmla="val 20000"/>
            </a:avLst>
          </a:prstGeom>
          <a:solidFill>
            <a:srgbClr val="FF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885425" y="2889504"/>
            <a:ext cx="1364437" cy="1024128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200" b="1">
                <a:solidFill>
                  <a:srgbClr val="FF6022"/>
                </a:solidFill>
                <a:latin typeface="BOG 2018"/>
              </a:rPr>
              <a:t>App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885425" y="3968496"/>
            <a:ext cx="1364437" cy="1024128"/>
          </a:xfrm>
          <a:prstGeom prst="roundRect">
            <a:avLst>
              <a:gd name="adj" fmla="val 2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885425" y="3968496"/>
            <a:ext cx="1364437" cy="1024128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BOG 2018"/>
              </a:rPr>
              <a:t>Libs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5486400"/>
            <a:ext cx="2773603" cy="2286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100" b="1">
                <a:solidFill>
                  <a:srgbClr val="555555"/>
                </a:solidFill>
                <a:latin typeface="BOG 2018"/>
              </a:rPr>
              <a:t>გაშვება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5760720"/>
            <a:ext cx="1386801" cy="2286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BOG 2018"/>
              </a:rPr>
              <a:t>30s – 2 min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935441" y="5760720"/>
            <a:ext cx="1386801" cy="2286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100" b="1">
                <a:solidFill>
                  <a:srgbClr val="FF6022"/>
                </a:solidFill>
                <a:latin typeface="BOG 2018"/>
              </a:rPr>
              <a:t>&lt; 1 წამი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322243" y="5486400"/>
            <a:ext cx="2773603" cy="2286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100" b="1">
                <a:solidFill>
                  <a:srgbClr val="555555"/>
                </a:solidFill>
                <a:latin typeface="BOG 2018"/>
              </a:rPr>
              <a:t>RAM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322243" y="5760720"/>
            <a:ext cx="1386801" cy="2286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BOG 2018"/>
              </a:rPr>
              <a:t>1 – 4 GB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09045" y="5760720"/>
            <a:ext cx="1386801" cy="2286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100" b="1">
                <a:solidFill>
                  <a:srgbClr val="FF6022"/>
                </a:solidFill>
                <a:latin typeface="BOG 2018"/>
              </a:rPr>
              <a:t>5 – 50 MB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95847" y="5486400"/>
            <a:ext cx="2773603" cy="2286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100" b="1">
                <a:solidFill>
                  <a:srgbClr val="555555"/>
                </a:solidFill>
                <a:latin typeface="BOG 2018"/>
              </a:rPr>
              <a:t>Image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095847" y="5760720"/>
            <a:ext cx="1386801" cy="2286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BOG 2018"/>
              </a:rPr>
              <a:t>5 – 20 GB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82649" y="5760720"/>
            <a:ext cx="1386801" cy="2286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100" b="1">
                <a:solidFill>
                  <a:srgbClr val="FF6022"/>
                </a:solidFill>
                <a:latin typeface="BOG 2018"/>
              </a:rPr>
              <a:t>100 MB – 1 GB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69451" y="5486400"/>
            <a:ext cx="2773603" cy="2286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100" b="1">
                <a:solidFill>
                  <a:srgbClr val="555555"/>
                </a:solidFill>
                <a:latin typeface="BOG 2018"/>
              </a:rPr>
              <a:t>Performance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869451" y="5760720"/>
            <a:ext cx="1386801" cy="2286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100" b="0">
                <a:solidFill>
                  <a:srgbClr val="1A1A1A"/>
                </a:solidFill>
                <a:latin typeface="BOG 2018"/>
              </a:rPr>
              <a:t>5–15% overhead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256253" y="5760720"/>
            <a:ext cx="1386801" cy="2286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100" b="1">
                <a:solidFill>
                  <a:srgbClr val="FF6022"/>
                </a:solidFill>
                <a:latin typeface="BOG 2018"/>
              </a:rPr>
              <a:t>~native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48640" y="6355080"/>
            <a:ext cx="11094415" cy="365760"/>
          </a:xfrm>
          <a:prstGeom prst="roundRect">
            <a:avLst>
              <a:gd name="adj" fmla="val 5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85800" y="6400800"/>
            <a:ext cx="7315200" cy="301621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000" b="0" dirty="0">
                <a:solidFill>
                  <a:srgbClr val="555555"/>
                </a:solidFill>
                <a:latin typeface="BOG 2018"/>
              </a:rPr>
              <a:t>Docker &amp; Dev Containers  ·  slide 04 / 2</a:t>
            </a:r>
            <a:r>
              <a:rPr lang="en-US" sz="1000" b="0" dirty="0">
                <a:solidFill>
                  <a:srgbClr val="555555"/>
                </a:solidFill>
                <a:latin typeface="BOG 2018"/>
              </a:rPr>
              <a:t>0</a:t>
            </a:r>
            <a:endParaRPr sz="1000" b="0" dirty="0">
              <a:solidFill>
                <a:srgbClr val="555555"/>
              </a:solidFill>
              <a:latin typeface="BOG 2018"/>
            </a:endParaRPr>
          </a:p>
        </p:txBody>
      </p:sp>
      <p:sp>
        <p:nvSpPr>
          <p:cNvPr id="74" name="Oval 73"/>
          <p:cNvSpPr/>
          <p:nvPr/>
        </p:nvSpPr>
        <p:spPr>
          <a:xfrm>
            <a:off x="11368735" y="6428232"/>
            <a:ext cx="128016" cy="128016"/>
          </a:xfrm>
          <a:prstGeom prst="ellipse">
            <a:avLst/>
          </a:prstGeom>
          <a:solidFill>
            <a:srgbClr val="FF6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777240"/>
          </a:xfrm>
          <a:prstGeom prst="roundRect">
            <a:avLst>
              <a:gd name="adj" fmla="val 35000"/>
            </a:avLst>
          </a:prstGeom>
          <a:solidFill>
            <a:srgbClr val="FF6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91440" rtlCol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BOG 2018"/>
              </a:rPr>
              <a:t>Docker არქიტექტურა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447" y="1645920"/>
            <a:ext cx="3108960" cy="2011680"/>
          </a:xfrm>
          <a:prstGeom prst="roundRect">
            <a:avLst>
              <a:gd name="adj" fmla="val 1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92327" y="1828800"/>
            <a:ext cx="2743200" cy="64008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800" b="1">
                <a:solidFill>
                  <a:srgbClr val="FF6022"/>
                </a:solidFill>
                <a:latin typeface="BOG 2018"/>
              </a:rPr>
              <a:t>Docker Client</a:t>
            </a:r>
          </a:p>
          <a:p>
            <a:pPr algn="ctr"/>
            <a:r>
              <a:rPr sz="1800" b="1">
                <a:solidFill>
                  <a:srgbClr val="FF6022"/>
                </a:solidFill>
                <a:latin typeface="BOG 2018"/>
              </a:rPr>
              <a:t>(CLI)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327" y="2560320"/>
            <a:ext cx="2743200" cy="9144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BOG 2018"/>
              </a:rPr>
              <a:t>docker run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BOG 2018"/>
              </a:rPr>
              <a:t>docker build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BOG 2018"/>
              </a:rPr>
              <a:t>docker ps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809847" y="2468880"/>
            <a:ext cx="640080" cy="320040"/>
          </a:xfrm>
          <a:prstGeom prst="rightArrow">
            <a:avLst/>
          </a:prstGeom>
          <a:solidFill>
            <a:srgbClr val="FF6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41367" y="1645920"/>
            <a:ext cx="3108960" cy="2011680"/>
          </a:xfrm>
          <a:prstGeom prst="roundRect">
            <a:avLst>
              <a:gd name="adj" fmla="val 1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24247" y="1828800"/>
            <a:ext cx="2743200" cy="64008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800" b="1">
                <a:solidFill>
                  <a:srgbClr val="FF6022"/>
                </a:solidFill>
                <a:latin typeface="BOG 2018"/>
              </a:rPr>
              <a:t>Docker Daemon</a:t>
            </a:r>
          </a:p>
          <a:p>
            <a:pPr algn="ctr"/>
            <a:r>
              <a:rPr sz="1800" b="1">
                <a:solidFill>
                  <a:srgbClr val="FF6022"/>
                </a:solidFill>
                <a:latin typeface="BOG 2018"/>
              </a:rPr>
              <a:t>(dockerd)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4247" y="2560320"/>
            <a:ext cx="2743200" cy="9144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BOG 2018"/>
              </a:rPr>
              <a:t>Image-ების აგება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BOG 2018"/>
              </a:rPr>
              <a:t>Container-ების მართვა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741767" y="2468880"/>
            <a:ext cx="640080" cy="320040"/>
          </a:xfrm>
          <a:prstGeom prst="rightArrow">
            <a:avLst/>
          </a:prstGeom>
          <a:solidFill>
            <a:srgbClr val="FF6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473287" y="1645920"/>
            <a:ext cx="3108960" cy="2011680"/>
          </a:xfrm>
          <a:prstGeom prst="roundRect">
            <a:avLst>
              <a:gd name="adj" fmla="val 1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56167" y="1828800"/>
            <a:ext cx="2743200" cy="64008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800" b="1">
                <a:solidFill>
                  <a:srgbClr val="FF6022"/>
                </a:solidFill>
                <a:latin typeface="BOG 2018"/>
              </a:rPr>
              <a:t>Docker Registry</a:t>
            </a:r>
          </a:p>
          <a:p>
            <a:pPr algn="ctr"/>
            <a:r>
              <a:rPr sz="1800" b="1">
                <a:solidFill>
                  <a:srgbClr val="FF6022"/>
                </a:solidFill>
                <a:latin typeface="BOG 2018"/>
              </a:rPr>
              <a:t>(Docker Hub)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6167" y="2560320"/>
            <a:ext cx="2743200" cy="9144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BOG 2018"/>
              </a:rPr>
              <a:t>Image-ების საცავი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BOG 2018"/>
              </a:rPr>
              <a:t>pull / push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14800"/>
            <a:ext cx="11094415" cy="13716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600" b="0">
                <a:solidFill>
                  <a:srgbClr val="555555"/>
                </a:solidFill>
                <a:latin typeface="BOG 2018"/>
              </a:rPr>
              <a:t>Client → REST API → Daemon → Registry</a:t>
            </a:r>
          </a:p>
          <a:p>
            <a:pPr algn="ctr"/>
            <a:r>
              <a:rPr sz="1600" b="0">
                <a:solidFill>
                  <a:srgbClr val="555555"/>
                </a:solidFill>
                <a:latin typeface="BOG 2018"/>
              </a:rPr>
              <a:t>Client თავად არაფერს აკეთებს — ბრძანებებს Daemon-ს გადასცემს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6355080"/>
            <a:ext cx="11094415" cy="365760"/>
          </a:xfrm>
          <a:prstGeom prst="roundRect">
            <a:avLst>
              <a:gd name="adj" fmla="val 5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6400800"/>
            <a:ext cx="7315200" cy="301621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000" b="0" dirty="0">
                <a:solidFill>
                  <a:srgbClr val="555555"/>
                </a:solidFill>
                <a:latin typeface="BOG 2018"/>
              </a:rPr>
              <a:t>Docker &amp; Dev Containers  ·  slide 05 / 2</a:t>
            </a:r>
            <a:r>
              <a:rPr lang="en-US" sz="1000" b="0" dirty="0">
                <a:solidFill>
                  <a:srgbClr val="555555"/>
                </a:solidFill>
                <a:latin typeface="BOG 2018"/>
              </a:rPr>
              <a:t>0</a:t>
            </a:r>
            <a:endParaRPr sz="1000" b="0" dirty="0">
              <a:solidFill>
                <a:srgbClr val="555555"/>
              </a:solidFill>
              <a:latin typeface="BOG 2018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11368735" y="6428232"/>
            <a:ext cx="128016" cy="128016"/>
          </a:xfrm>
          <a:prstGeom prst="ellipse">
            <a:avLst/>
          </a:prstGeom>
          <a:solidFill>
            <a:srgbClr val="FF6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777240"/>
          </a:xfrm>
          <a:prstGeom prst="roundRect">
            <a:avLst>
              <a:gd name="adj" fmla="val 35000"/>
            </a:avLst>
          </a:prstGeom>
          <a:solidFill>
            <a:srgbClr val="FF6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91440" rtlCol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BOG 2018"/>
              </a:rPr>
              <a:t>Docker-ის უკან: Linux Kernel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515258" cy="4206240"/>
          </a:xfrm>
          <a:prstGeom prst="roundRect">
            <a:avLst>
              <a:gd name="adj" fmla="val 1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031949" y="17373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6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31949" y="1810512"/>
            <a:ext cx="548640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BOG 2018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3149498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2000" b="1">
                <a:solidFill>
                  <a:srgbClr val="FF6022"/>
                </a:solidFill>
                <a:latin typeface="BOG 2018"/>
              </a:rPr>
              <a:t>Namespaces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3058058" cy="2743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BOG 2018"/>
              </a:rPr>
              <a:t>პროცესების იზოლაცია</a:t>
            </a:r>
          </a:p>
          <a:p>
            <a:pPr algn="l"/>
            <a:endParaRPr sz="1400" b="0">
              <a:solidFill>
                <a:srgbClr val="1A1A1A"/>
              </a:solidFill>
              <a:latin typeface="BOG 2018"/>
            </a:endParaRPr>
          </a:p>
          <a:p>
            <a:pPr algn="l"/>
            <a:r>
              <a:rPr sz="1400" b="0">
                <a:solidFill>
                  <a:srgbClr val="1A1A1A"/>
                </a:solidFill>
                <a:latin typeface="BOG 2018"/>
              </a:rPr>
              <a:t>· PID — ცალკე process tree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BOG 2018"/>
              </a:rPr>
              <a:t>· Network — ცალკე IP/ports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BOG 2018"/>
              </a:rPr>
              <a:t>· Mount — ცალკე ფაილები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BOG 2018"/>
              </a:rPr>
              <a:t>· User — ცალკე users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1554480"/>
            <a:ext cx="3515258" cy="4206240"/>
          </a:xfrm>
          <a:prstGeom prst="roundRect">
            <a:avLst>
              <a:gd name="adj" fmla="val 1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821527" y="17373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6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21527" y="1810512"/>
            <a:ext cx="548640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BOG 2018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1098" y="2468880"/>
            <a:ext cx="3149498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2000" b="1">
                <a:solidFill>
                  <a:srgbClr val="FF6022"/>
                </a:solidFill>
                <a:latin typeface="BOG 2018"/>
              </a:rPr>
              <a:t>cgroups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3017520"/>
            <a:ext cx="3058058" cy="2743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BOG 2018"/>
              </a:rPr>
              <a:t>რესურსების ლიმიტირება</a:t>
            </a:r>
          </a:p>
          <a:p>
            <a:pPr algn="l"/>
            <a:endParaRPr sz="1400" b="0">
              <a:solidFill>
                <a:srgbClr val="1A1A1A"/>
              </a:solidFill>
              <a:latin typeface="BOG 2018"/>
            </a:endParaRPr>
          </a:p>
          <a:p>
            <a:pPr algn="l"/>
            <a:r>
              <a:rPr sz="1400" b="0">
                <a:solidFill>
                  <a:srgbClr val="1A1A1A"/>
                </a:solidFill>
                <a:latin typeface="BOG 2018"/>
              </a:rPr>
              <a:t>· CPU — max 2 cores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BOG 2018"/>
              </a:rPr>
              <a:t>· RAM — max 512 MB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BOG 2018"/>
              </a:rPr>
              <a:t>· Disk I/O — bandwidth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BOG 2018"/>
              </a:rPr>
              <a:t>· Network — throughput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554480"/>
            <a:ext cx="3515258" cy="4206240"/>
          </a:xfrm>
          <a:prstGeom prst="roundRect">
            <a:avLst>
              <a:gd name="adj" fmla="val 1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9611105" y="173736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6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11105" y="1810512"/>
            <a:ext cx="548640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BOG 2018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0676" y="2468880"/>
            <a:ext cx="3149498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2000" b="1">
                <a:solidFill>
                  <a:srgbClr val="FF6022"/>
                </a:solidFill>
                <a:latin typeface="BOG 2018"/>
              </a:rPr>
              <a:t>Union FS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6396" y="3017520"/>
            <a:ext cx="3058058" cy="2743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BOG 2018"/>
              </a:rPr>
              <a:t>ფენების ერთობლიობა</a:t>
            </a:r>
          </a:p>
          <a:p>
            <a:pPr algn="l"/>
            <a:endParaRPr sz="1400" b="0">
              <a:solidFill>
                <a:srgbClr val="1A1A1A"/>
              </a:solidFill>
              <a:latin typeface="BOG 2018"/>
            </a:endParaRPr>
          </a:p>
          <a:p>
            <a:pPr algn="l"/>
            <a:r>
              <a:rPr sz="1400" b="0">
                <a:solidFill>
                  <a:srgbClr val="1A1A1A"/>
                </a:solidFill>
                <a:latin typeface="BOG 2018"/>
              </a:rPr>
              <a:t>· Image = read-only ფენები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BOG 2018"/>
              </a:rPr>
              <a:t>· Container += writable ფენა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BOG 2018"/>
              </a:rPr>
              <a:t>· საერთო ფენები = ეფექტურობა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BOG 2018"/>
              </a:rPr>
              <a:t>· Cache = სწრაფი rebuild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6355080"/>
            <a:ext cx="11094415" cy="365760"/>
          </a:xfrm>
          <a:prstGeom prst="roundRect">
            <a:avLst>
              <a:gd name="adj" fmla="val 5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6400800"/>
            <a:ext cx="7315200" cy="301621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000" b="0" dirty="0">
                <a:solidFill>
                  <a:srgbClr val="555555"/>
                </a:solidFill>
                <a:latin typeface="BOG 2018"/>
              </a:rPr>
              <a:t>Docker &amp; Dev Containers  ·  slide 06 / 2</a:t>
            </a:r>
            <a:r>
              <a:rPr lang="en-US" sz="1000" b="0" dirty="0">
                <a:solidFill>
                  <a:srgbClr val="555555"/>
                </a:solidFill>
                <a:latin typeface="BOG 2018"/>
              </a:rPr>
              <a:t>0</a:t>
            </a:r>
            <a:endParaRPr sz="1000" b="0" dirty="0">
              <a:solidFill>
                <a:srgbClr val="555555"/>
              </a:solidFill>
              <a:latin typeface="BOG 2018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11368735" y="6428232"/>
            <a:ext cx="128016" cy="128016"/>
          </a:xfrm>
          <a:prstGeom prst="ellipse">
            <a:avLst/>
          </a:prstGeom>
          <a:solidFill>
            <a:srgbClr val="FF6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777240"/>
          </a:xfrm>
          <a:prstGeom prst="roundRect">
            <a:avLst>
              <a:gd name="adj" fmla="val 35000"/>
            </a:avLst>
          </a:prstGeom>
          <a:solidFill>
            <a:srgbClr val="FF6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91440" rtlCol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BOG 2018"/>
              </a:rPr>
              <a:t>Docker-ის ინსტალაცია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515258" cy="3200400"/>
          </a:xfrm>
          <a:prstGeom prst="roundRect">
            <a:avLst>
              <a:gd name="adj" fmla="val 1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3515258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2200" b="1">
                <a:solidFill>
                  <a:srgbClr val="FF6022"/>
                </a:solidFill>
                <a:latin typeface="BOG 2018"/>
              </a:rPr>
              <a:t>Windows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2966618" cy="22860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JetBrains Mono"/>
              </a:rPr>
              <a:t>1. WSL2 ჩართვა: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JetBrains Mono"/>
              </a:rPr>
              <a:t>   wsl --install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JetBrains Mono"/>
              </a:rPr>
              <a:t>2. Docker Desktop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JetBrains Mono"/>
              </a:rPr>
              <a:t>   ინსტალაცია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JetBrains Mono"/>
              </a:rPr>
              <a:t>3. "Use WSL 2" 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8218" y="1554480"/>
            <a:ext cx="3515258" cy="3200400"/>
          </a:xfrm>
          <a:prstGeom prst="roundRect">
            <a:avLst>
              <a:gd name="adj" fmla="val 1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38218" y="1737360"/>
            <a:ext cx="3515258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2200" b="1">
                <a:solidFill>
                  <a:srgbClr val="FF6022"/>
                </a:solidFill>
                <a:latin typeface="BOG 2018"/>
              </a:rPr>
              <a:t>macOS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2538" y="2331720"/>
            <a:ext cx="2966618" cy="22860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JetBrains Mono"/>
              </a:rPr>
              <a:t>1. Docker Desktop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JetBrains Mono"/>
              </a:rPr>
              <a:t>   ჩამოტვირთვა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JetBrains Mono"/>
              </a:rPr>
              <a:t>2. Applications-ში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JetBrains Mono"/>
              </a:rPr>
              <a:t>   გადატანა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JetBrains Mono"/>
              </a:rPr>
              <a:t>3. გაშვება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27796" y="1554480"/>
            <a:ext cx="3515258" cy="3200400"/>
          </a:xfrm>
          <a:prstGeom prst="roundRect">
            <a:avLst>
              <a:gd name="adj" fmla="val 1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27796" y="1737360"/>
            <a:ext cx="3515258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2200" b="1">
                <a:solidFill>
                  <a:srgbClr val="FF6022"/>
                </a:solidFill>
                <a:latin typeface="BOG 2018"/>
              </a:rPr>
              <a:t>Linux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02116" y="2331720"/>
            <a:ext cx="2966618" cy="22860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JetBrains Mono"/>
              </a:rPr>
              <a:t>1. apt repository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JetBrains Mono"/>
              </a:rPr>
              <a:t>   დამატება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JetBrains Mono"/>
              </a:rPr>
              <a:t>2. docker-ce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JetBrains Mono"/>
              </a:rPr>
              <a:t>   ინსტალაცია</a:t>
            </a:r>
          </a:p>
          <a:p>
            <a:pPr algn="l"/>
            <a:r>
              <a:rPr sz="1400" b="0">
                <a:solidFill>
                  <a:srgbClr val="1A1A1A"/>
                </a:solidFill>
                <a:latin typeface="JetBrains Mono"/>
              </a:rPr>
              <a:t>3. usermod -aG docker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029200"/>
            <a:ext cx="11094415" cy="64008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182880" bIns="137160" rtlCol="0" anchor="ctr"/>
          <a:lstStyle/>
          <a:p>
            <a:pPr algn="l"/>
            <a:r>
              <a:rPr sz="1600">
                <a:solidFill>
                  <a:srgbClr val="F5F5F5"/>
                </a:solidFill>
                <a:latin typeface="JetBrains Mono"/>
              </a:rPr>
              <a:t>$ docker run hello-world     # ← ეს თუ მუშაობს, ინსტალაცია წარმატებულია!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6355080"/>
            <a:ext cx="11094415" cy="365760"/>
          </a:xfrm>
          <a:prstGeom prst="roundRect">
            <a:avLst>
              <a:gd name="adj" fmla="val 5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6400800"/>
            <a:ext cx="7315200" cy="301621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000" b="0" dirty="0">
                <a:solidFill>
                  <a:srgbClr val="555555"/>
                </a:solidFill>
                <a:latin typeface="BOG 2018"/>
              </a:rPr>
              <a:t>Docker &amp; Dev Containers  ·  slide 07 / 2</a:t>
            </a:r>
            <a:r>
              <a:rPr lang="en-US" sz="1000" b="0" dirty="0">
                <a:solidFill>
                  <a:srgbClr val="555555"/>
                </a:solidFill>
                <a:latin typeface="BOG 2018"/>
              </a:rPr>
              <a:t>0</a:t>
            </a:r>
            <a:endParaRPr sz="1000" b="0" dirty="0">
              <a:solidFill>
                <a:srgbClr val="555555"/>
              </a:solidFill>
              <a:latin typeface="BOG 2018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1368735" y="6428232"/>
            <a:ext cx="128016" cy="128016"/>
          </a:xfrm>
          <a:prstGeom prst="ellipse">
            <a:avLst/>
          </a:prstGeom>
          <a:solidFill>
            <a:srgbClr val="FF6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777240"/>
          </a:xfrm>
          <a:prstGeom prst="roundRect">
            <a:avLst>
              <a:gd name="adj" fmla="val 35000"/>
            </a:avLst>
          </a:prstGeom>
          <a:solidFill>
            <a:srgbClr val="FF6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91440" rtlCol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BOG 2018"/>
              </a:rPr>
              <a:t>Image  vs  Container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5090007" cy="2110359"/>
          </a:xfrm>
          <a:prstGeom prst="roundRect">
            <a:avLst>
              <a:gd name="adj" fmla="val 1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5090007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2800" b="1">
                <a:solidFill>
                  <a:srgbClr val="1A1A1A"/>
                </a:solidFill>
                <a:latin typeface="BOG 2018"/>
              </a:rPr>
              <a:t>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4541367" cy="1378839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600" b="0" dirty="0">
                <a:solidFill>
                  <a:srgbClr val="1A1A1A"/>
                </a:solidFill>
                <a:latin typeface="BOG 2018"/>
              </a:rPr>
              <a:t>· Read-only template</a:t>
            </a:r>
          </a:p>
          <a:p>
            <a:pPr algn="l"/>
            <a:r>
              <a:rPr sz="1600" b="0" dirty="0">
                <a:solidFill>
                  <a:srgbClr val="1A1A1A"/>
                </a:solidFill>
                <a:latin typeface="BOG 2018"/>
              </a:rPr>
              <a:t>· </a:t>
            </a:r>
            <a:r>
              <a:rPr sz="1600" b="0" dirty="0" err="1">
                <a:solidFill>
                  <a:srgbClr val="1A1A1A"/>
                </a:solidFill>
                <a:latin typeface="BOG 2018"/>
              </a:rPr>
              <a:t>ფენების</a:t>
            </a:r>
            <a:r>
              <a:rPr sz="1600" b="0" dirty="0">
                <a:solidFill>
                  <a:srgbClr val="1A1A1A"/>
                </a:solidFill>
                <a:latin typeface="BOG 2018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BOG 2018"/>
              </a:rPr>
              <a:t>ერთობლიობა</a:t>
            </a:r>
            <a:endParaRPr sz="1600" b="0" dirty="0">
              <a:solidFill>
                <a:srgbClr val="1A1A1A"/>
              </a:solidFill>
              <a:latin typeface="BOG 2018"/>
            </a:endParaRPr>
          </a:p>
          <a:p>
            <a:pPr algn="l"/>
            <a:r>
              <a:rPr sz="1600" b="0" dirty="0">
                <a:solidFill>
                  <a:srgbClr val="1A1A1A"/>
                </a:solidFill>
                <a:latin typeface="BOG 2018"/>
              </a:rPr>
              <a:t>· </a:t>
            </a:r>
            <a:r>
              <a:rPr sz="1600" b="0" dirty="0" err="1">
                <a:solidFill>
                  <a:srgbClr val="1A1A1A"/>
                </a:solidFill>
                <a:latin typeface="BOG 2018"/>
              </a:rPr>
              <a:t>Dockerfile-ით</a:t>
            </a:r>
            <a:r>
              <a:rPr sz="1600" b="0" dirty="0">
                <a:solidFill>
                  <a:srgbClr val="1A1A1A"/>
                </a:solidFill>
                <a:latin typeface="BOG 2018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BOG 2018"/>
              </a:rPr>
              <a:t>იქმნება</a:t>
            </a:r>
            <a:endParaRPr sz="1600" b="0" dirty="0">
              <a:solidFill>
                <a:srgbClr val="1A1A1A"/>
              </a:solidFill>
              <a:latin typeface="BOG 2018"/>
            </a:endParaRPr>
          </a:p>
          <a:p>
            <a:pPr algn="l"/>
            <a:r>
              <a:rPr sz="1600" b="0" dirty="0">
                <a:solidFill>
                  <a:srgbClr val="1A1A1A"/>
                </a:solidFill>
                <a:latin typeface="BOG 2018"/>
              </a:rPr>
              <a:t>· Registry-</a:t>
            </a:r>
            <a:r>
              <a:rPr sz="1600" b="0" dirty="0" err="1">
                <a:solidFill>
                  <a:srgbClr val="1A1A1A"/>
                </a:solidFill>
                <a:latin typeface="BOG 2018"/>
              </a:rPr>
              <a:t>ში</a:t>
            </a:r>
            <a:r>
              <a:rPr sz="1600" b="0" dirty="0">
                <a:solidFill>
                  <a:srgbClr val="1A1A1A"/>
                </a:solidFill>
                <a:latin typeface="BOG 2018"/>
              </a:rPr>
              <a:t> </a:t>
            </a:r>
            <a:r>
              <a:rPr sz="1600" b="0" dirty="0" err="1">
                <a:solidFill>
                  <a:srgbClr val="1A1A1A"/>
                </a:solidFill>
                <a:latin typeface="BOG 2018"/>
              </a:rPr>
              <a:t>ინახება</a:t>
            </a:r>
            <a:endParaRPr sz="1600" b="0" dirty="0">
              <a:solidFill>
                <a:srgbClr val="1A1A1A"/>
              </a:solidFill>
              <a:latin typeface="BOG 2018"/>
            </a:endParaRPr>
          </a:p>
          <a:p>
            <a:pPr algn="l"/>
            <a:endParaRPr lang="ka-GE" sz="1600" b="0" dirty="0">
              <a:solidFill>
                <a:srgbClr val="1A1A1A"/>
              </a:solidFill>
              <a:latin typeface="BOG 2018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53047" y="1554480"/>
            <a:ext cx="5090007" cy="2110359"/>
          </a:xfrm>
          <a:prstGeom prst="roundRect">
            <a:avLst>
              <a:gd name="adj" fmla="val 10000"/>
            </a:avLst>
          </a:prstGeom>
          <a:solidFill>
            <a:srgbClr val="FF6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53047" y="1737360"/>
            <a:ext cx="5090007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BOG 2018"/>
              </a:rPr>
              <a:t>Container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27367" y="2286000"/>
            <a:ext cx="4541367" cy="1132618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600" b="0" dirty="0">
                <a:solidFill>
                  <a:srgbClr val="FFFFFF"/>
                </a:solidFill>
                <a:latin typeface="BOG 2018"/>
              </a:rPr>
              <a:t>· Image-</a:t>
            </a:r>
            <a:r>
              <a:rPr sz="1600" b="0" dirty="0" err="1">
                <a:solidFill>
                  <a:srgbClr val="FFFFFF"/>
                </a:solidFill>
                <a:latin typeface="BOG 2018"/>
              </a:rPr>
              <a:t>ის</a:t>
            </a:r>
            <a:r>
              <a:rPr sz="1600" b="0" dirty="0">
                <a:solidFill>
                  <a:srgbClr val="FFFFFF"/>
                </a:solidFill>
                <a:latin typeface="BOG 2018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BOG 2018"/>
              </a:rPr>
              <a:t>ცოცხალი</a:t>
            </a:r>
            <a:r>
              <a:rPr sz="1600" b="0" dirty="0">
                <a:solidFill>
                  <a:srgbClr val="FFFFFF"/>
                </a:solidFill>
                <a:latin typeface="BOG 2018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BOG 2018"/>
              </a:rPr>
              <a:t>ინსტანსი</a:t>
            </a:r>
            <a:endParaRPr sz="1600" b="0" dirty="0">
              <a:solidFill>
                <a:srgbClr val="FFFFFF"/>
              </a:solidFill>
              <a:latin typeface="BOG 2018"/>
            </a:endParaRPr>
          </a:p>
          <a:p>
            <a:pPr algn="l"/>
            <a:r>
              <a:rPr sz="1600" b="0" dirty="0">
                <a:solidFill>
                  <a:srgbClr val="FFFFFF"/>
                </a:solidFill>
                <a:latin typeface="BOG 2018"/>
              </a:rPr>
              <a:t>· Writable layer</a:t>
            </a:r>
          </a:p>
          <a:p>
            <a:pPr algn="l"/>
            <a:r>
              <a:rPr sz="1600" b="0" dirty="0">
                <a:solidFill>
                  <a:srgbClr val="FFFFFF"/>
                </a:solidFill>
                <a:latin typeface="BOG 2018"/>
              </a:rPr>
              <a:t>· docker run-</a:t>
            </a:r>
            <a:r>
              <a:rPr sz="1600" b="0" dirty="0" err="1">
                <a:solidFill>
                  <a:srgbClr val="FFFFFF"/>
                </a:solidFill>
                <a:latin typeface="BOG 2018"/>
              </a:rPr>
              <a:t>ით</a:t>
            </a:r>
            <a:r>
              <a:rPr sz="1600" b="0" dirty="0">
                <a:solidFill>
                  <a:srgbClr val="FFFFFF"/>
                </a:solidFill>
                <a:latin typeface="BOG 2018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BOG 2018"/>
              </a:rPr>
              <a:t>იქმნება</a:t>
            </a:r>
            <a:endParaRPr sz="1600" b="0" dirty="0">
              <a:solidFill>
                <a:srgbClr val="FFFFFF"/>
              </a:solidFill>
              <a:latin typeface="BOG 2018"/>
            </a:endParaRPr>
          </a:p>
          <a:p>
            <a:pPr algn="l"/>
            <a:r>
              <a:rPr sz="1600" b="0" dirty="0">
                <a:solidFill>
                  <a:srgbClr val="FFFFFF"/>
                </a:solidFill>
                <a:latin typeface="BOG 2018"/>
              </a:rPr>
              <a:t>· </a:t>
            </a:r>
            <a:r>
              <a:rPr sz="1600" b="0" dirty="0" err="1">
                <a:solidFill>
                  <a:srgbClr val="FFFFFF"/>
                </a:solidFill>
                <a:latin typeface="BOG 2018"/>
              </a:rPr>
              <a:t>წაშლადი</a:t>
            </a:r>
            <a:r>
              <a:rPr sz="1600" dirty="0" err="1">
                <a:solidFill>
                  <a:srgbClr val="FFFFFF"/>
                </a:solidFill>
                <a:latin typeface="BOG 2018"/>
              </a:rPr>
              <a:t>ა</a:t>
            </a:r>
            <a:endParaRPr sz="1600" b="0" dirty="0">
              <a:solidFill>
                <a:srgbClr val="FFFFFF"/>
              </a:solidFill>
              <a:latin typeface="BOG 2018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5775807" y="2341521"/>
            <a:ext cx="640080" cy="320040"/>
          </a:xfrm>
          <a:prstGeom prst="rightArrow">
            <a:avLst/>
          </a:prstGeom>
          <a:solidFill>
            <a:srgbClr val="FF6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801289"/>
            <a:ext cx="11094415" cy="393954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600" b="1" dirty="0" err="1">
                <a:solidFill>
                  <a:srgbClr val="FF6022"/>
                </a:solidFill>
                <a:latin typeface="BOG 2018"/>
              </a:rPr>
              <a:t>ერთი</a:t>
            </a:r>
            <a:r>
              <a:rPr sz="1600" b="1" dirty="0">
                <a:solidFill>
                  <a:srgbClr val="FF6022"/>
                </a:solidFill>
                <a:latin typeface="BOG 2018"/>
              </a:rPr>
              <a:t> Image → </a:t>
            </a:r>
            <a:r>
              <a:rPr sz="1600" b="1" dirty="0" err="1">
                <a:solidFill>
                  <a:srgbClr val="FF6022"/>
                </a:solidFill>
                <a:latin typeface="BOG 2018"/>
              </a:rPr>
              <a:t>მრავალი</a:t>
            </a:r>
            <a:r>
              <a:rPr sz="1600" b="1" dirty="0">
                <a:solidFill>
                  <a:srgbClr val="FF6022"/>
                </a:solidFill>
                <a:latin typeface="BOG 2018"/>
              </a:rPr>
              <a:t> Container (</a:t>
            </a:r>
            <a:r>
              <a:rPr sz="1600" b="1" dirty="0" err="1">
                <a:solidFill>
                  <a:srgbClr val="FF6022"/>
                </a:solidFill>
                <a:latin typeface="BOG 2018"/>
              </a:rPr>
              <a:t>პარალელურად</a:t>
            </a:r>
            <a:r>
              <a:rPr sz="1600" b="1" dirty="0">
                <a:solidFill>
                  <a:srgbClr val="FF6022"/>
                </a:solidFill>
                <a:latin typeface="BOG 2018"/>
              </a:rPr>
              <a:t>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355080"/>
            <a:ext cx="11094415" cy="365760"/>
          </a:xfrm>
          <a:prstGeom prst="roundRect">
            <a:avLst>
              <a:gd name="adj" fmla="val 5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6400800"/>
            <a:ext cx="7315200" cy="301621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000" b="0" dirty="0">
                <a:solidFill>
                  <a:srgbClr val="555555"/>
                </a:solidFill>
                <a:latin typeface="BOG 2018"/>
              </a:rPr>
              <a:t>Docker &amp; Dev Containers  ·  slide 08 / 2</a:t>
            </a:r>
            <a:r>
              <a:rPr lang="en-US" sz="1000" b="0" dirty="0">
                <a:solidFill>
                  <a:srgbClr val="555555"/>
                </a:solidFill>
                <a:latin typeface="BOG 2018"/>
              </a:rPr>
              <a:t>0</a:t>
            </a:r>
            <a:endParaRPr sz="1000" b="0" dirty="0">
              <a:solidFill>
                <a:srgbClr val="555555"/>
              </a:solidFill>
              <a:latin typeface="BOG 2018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1368735" y="6428232"/>
            <a:ext cx="128016" cy="128016"/>
          </a:xfrm>
          <a:prstGeom prst="ellipse">
            <a:avLst/>
          </a:prstGeom>
          <a:solidFill>
            <a:srgbClr val="FF6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920817-C70E-E18E-2D7D-9C7701D2214D}"/>
              </a:ext>
            </a:extLst>
          </p:cNvPr>
          <p:cNvSpPr txBox="1"/>
          <p:nvPr/>
        </p:nvSpPr>
        <p:spPr>
          <a:xfrm>
            <a:off x="548640" y="4736930"/>
            <a:ext cx="11094415" cy="640175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lang="en-US" sz="1600" dirty="0">
                <a:solidFill>
                  <a:srgbClr val="FF6022"/>
                </a:solidFill>
                <a:latin typeface="BOG 2018"/>
              </a:rPr>
              <a:t>Image</a:t>
            </a:r>
            <a:r>
              <a:rPr lang="ka-GE" sz="1600" dirty="0">
                <a:solidFill>
                  <a:srgbClr val="FF6022"/>
                </a:solidFill>
                <a:latin typeface="BOG 2018"/>
              </a:rPr>
              <a:t>-ის სახელის ფორმატი: </a:t>
            </a:r>
            <a:r>
              <a:rPr lang="en-US" sz="1600" dirty="0">
                <a:solidFill>
                  <a:srgbClr val="FF6022"/>
                </a:solidFill>
                <a:latin typeface="BOG 2018"/>
              </a:rPr>
              <a:t>registry/</a:t>
            </a:r>
            <a:r>
              <a:rPr lang="en-US" sz="1600" dirty="0" err="1">
                <a:solidFill>
                  <a:srgbClr val="FF6022"/>
                </a:solidFill>
                <a:latin typeface="BOG 2018"/>
              </a:rPr>
              <a:t>repository:tag</a:t>
            </a:r>
            <a:endParaRPr lang="en-US" sz="1600" dirty="0">
              <a:solidFill>
                <a:srgbClr val="FF6022"/>
              </a:solidFill>
              <a:latin typeface="BOG 2018"/>
            </a:endParaRPr>
          </a:p>
          <a:p>
            <a:pPr algn="ctr"/>
            <a:r>
              <a:rPr lang="ka-GE" sz="1600" dirty="0">
                <a:solidFill>
                  <a:srgbClr val="FF6022"/>
                </a:solidFill>
              </a:rPr>
              <a:t>მაგ: </a:t>
            </a:r>
            <a:r>
              <a:rPr lang="en-US" sz="1600" dirty="0">
                <a:solidFill>
                  <a:schemeClr val="accent6">
                    <a:lumMod val="40000"/>
                    <a:lumOff val="60000"/>
                  </a:schemeClr>
                </a:solidFill>
                <a:latin typeface="BOG 2018"/>
              </a:rPr>
              <a:t>docker.io</a:t>
            </a:r>
            <a:r>
              <a:rPr lang="en-US" sz="1600" dirty="0">
                <a:solidFill>
                  <a:srgbClr val="FF6022"/>
                </a:solidFill>
                <a:latin typeface="BOG 2018"/>
              </a:rPr>
              <a:t>/python:3.12-slim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777240"/>
          </a:xfrm>
          <a:prstGeom prst="roundRect">
            <a:avLst>
              <a:gd name="adj" fmla="val 35000"/>
            </a:avLst>
          </a:prstGeom>
          <a:solidFill>
            <a:srgbClr val="FF6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91440" rtlCol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BOG 2018"/>
              </a:rPr>
              <a:t>Docker CLI — ძირითადი ბრძანებები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094415" cy="457200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182880" bIns="137160" rtlCol="0" anchor="ctr"/>
          <a:lstStyle/>
          <a:p>
            <a:pPr algn="l"/>
            <a:r>
              <a:rPr sz="1600" dirty="0">
                <a:solidFill>
                  <a:srgbClr val="F5F5F5"/>
                </a:solidFill>
                <a:latin typeface="JetBrains Mono"/>
              </a:rPr>
              <a:t># Image-</a:t>
            </a:r>
            <a:r>
              <a:rPr sz="1600" dirty="0" err="1">
                <a:solidFill>
                  <a:srgbClr val="F5F5F5"/>
                </a:solidFill>
                <a:latin typeface="JetBrains Mono"/>
              </a:rPr>
              <a:t>ის</a:t>
            </a:r>
            <a:r>
              <a:rPr sz="1600" dirty="0">
                <a:solidFill>
                  <a:srgbClr val="F5F5F5"/>
                </a:solidFill>
                <a:latin typeface="JetBrains Mono"/>
              </a:rPr>
              <a:t> </a:t>
            </a:r>
            <a:r>
              <a:rPr sz="1600" dirty="0" err="1">
                <a:solidFill>
                  <a:srgbClr val="F5F5F5"/>
                </a:solidFill>
                <a:latin typeface="JetBrains Mono"/>
              </a:rPr>
              <a:t>ჩამოტვირთვა</a:t>
            </a:r>
            <a:r>
              <a:rPr sz="1600" dirty="0">
                <a:solidFill>
                  <a:srgbClr val="F5F5F5"/>
                </a:solidFill>
                <a:latin typeface="JetBrains Mono"/>
              </a:rPr>
              <a:t> და Container-</a:t>
            </a:r>
            <a:r>
              <a:rPr sz="1600" dirty="0" err="1">
                <a:solidFill>
                  <a:srgbClr val="F5F5F5"/>
                </a:solidFill>
                <a:latin typeface="JetBrains Mono"/>
              </a:rPr>
              <a:t>ის</a:t>
            </a:r>
            <a:r>
              <a:rPr sz="1600" dirty="0">
                <a:solidFill>
                  <a:srgbClr val="F5F5F5"/>
                </a:solidFill>
                <a:latin typeface="JetBrains Mono"/>
              </a:rPr>
              <a:t> </a:t>
            </a:r>
            <a:r>
              <a:rPr sz="1600" dirty="0" err="1">
                <a:solidFill>
                  <a:srgbClr val="F5F5F5"/>
                </a:solidFill>
                <a:latin typeface="JetBrains Mono"/>
              </a:rPr>
              <a:t>გაშვება</a:t>
            </a:r>
            <a:endParaRPr sz="1600" dirty="0">
              <a:solidFill>
                <a:srgbClr val="F5F5F5"/>
              </a:solidFill>
              <a:latin typeface="JetBrains Mono"/>
            </a:endParaRPr>
          </a:p>
          <a:p>
            <a:pPr algn="l"/>
            <a:r>
              <a:rPr sz="1600" dirty="0">
                <a:solidFill>
                  <a:srgbClr val="F5F5F5"/>
                </a:solidFill>
                <a:latin typeface="JetBrains Mono"/>
              </a:rPr>
              <a:t>docker pull python:3.12-slim</a:t>
            </a:r>
          </a:p>
          <a:p>
            <a:pPr algn="l"/>
            <a:r>
              <a:rPr sz="1600" dirty="0">
                <a:solidFill>
                  <a:srgbClr val="F5F5F5"/>
                </a:solidFill>
                <a:latin typeface="JetBrains Mono"/>
              </a:rPr>
              <a:t>docker run -it python:3.12-slim bash</a:t>
            </a:r>
          </a:p>
          <a:p>
            <a:pPr algn="l"/>
            <a:r>
              <a:rPr sz="1600" dirty="0">
                <a:solidFill>
                  <a:srgbClr val="F5F5F5"/>
                </a:solidFill>
                <a:latin typeface="JetBrains Mono"/>
              </a:rPr>
              <a:t>docker run -d --name web -p 8000:8000 my-app</a:t>
            </a:r>
          </a:p>
          <a:p>
            <a:pPr algn="l"/>
            <a:r>
              <a:rPr sz="1600" dirty="0">
                <a:solidFill>
                  <a:srgbClr val="F5F5F5"/>
                </a:solidFill>
                <a:latin typeface="JetBrains Mono"/>
              </a:rPr>
              <a:t> </a:t>
            </a:r>
          </a:p>
          <a:p>
            <a:pPr algn="l"/>
            <a:r>
              <a:rPr sz="1600" dirty="0">
                <a:solidFill>
                  <a:srgbClr val="F5F5F5"/>
                </a:solidFill>
                <a:latin typeface="JetBrains Mono"/>
              </a:rPr>
              <a:t># Container-</a:t>
            </a:r>
            <a:r>
              <a:rPr sz="1600" dirty="0" err="1">
                <a:solidFill>
                  <a:srgbClr val="F5F5F5"/>
                </a:solidFill>
                <a:latin typeface="JetBrains Mono"/>
              </a:rPr>
              <a:t>ების</a:t>
            </a:r>
            <a:r>
              <a:rPr sz="1600" dirty="0">
                <a:solidFill>
                  <a:srgbClr val="F5F5F5"/>
                </a:solidFill>
                <a:latin typeface="JetBrains Mono"/>
              </a:rPr>
              <a:t> </a:t>
            </a:r>
            <a:r>
              <a:rPr sz="1600" dirty="0" err="1">
                <a:solidFill>
                  <a:srgbClr val="F5F5F5"/>
                </a:solidFill>
                <a:latin typeface="JetBrains Mono"/>
              </a:rPr>
              <a:t>მართვა</a:t>
            </a:r>
            <a:endParaRPr sz="1600" dirty="0">
              <a:solidFill>
                <a:srgbClr val="F5F5F5"/>
              </a:solidFill>
              <a:latin typeface="JetBrains Mono"/>
            </a:endParaRPr>
          </a:p>
          <a:p>
            <a:pPr algn="l"/>
            <a:r>
              <a:rPr sz="1600" dirty="0">
                <a:solidFill>
                  <a:srgbClr val="F5F5F5"/>
                </a:solidFill>
                <a:latin typeface="JetBrains Mono"/>
              </a:rPr>
              <a:t>docker </a:t>
            </a:r>
            <a:r>
              <a:rPr sz="1600" dirty="0" err="1">
                <a:solidFill>
                  <a:srgbClr val="F5F5F5"/>
                </a:solidFill>
                <a:latin typeface="JetBrains Mono"/>
              </a:rPr>
              <a:t>ps</a:t>
            </a:r>
            <a:r>
              <a:rPr sz="1600" dirty="0">
                <a:solidFill>
                  <a:srgbClr val="F5F5F5"/>
                </a:solidFill>
                <a:latin typeface="JetBrains Mono"/>
              </a:rPr>
              <a:t>                    # </a:t>
            </a:r>
            <a:r>
              <a:rPr sz="1600" dirty="0" err="1">
                <a:solidFill>
                  <a:srgbClr val="F5F5F5"/>
                </a:solidFill>
                <a:latin typeface="JetBrains Mono"/>
              </a:rPr>
              <a:t>გაშვებული</a:t>
            </a:r>
            <a:endParaRPr sz="1600" dirty="0">
              <a:solidFill>
                <a:srgbClr val="F5F5F5"/>
              </a:solidFill>
              <a:latin typeface="JetBrains Mono"/>
            </a:endParaRPr>
          </a:p>
          <a:p>
            <a:pPr algn="l"/>
            <a:r>
              <a:rPr sz="1600" dirty="0">
                <a:solidFill>
                  <a:srgbClr val="F5F5F5"/>
                </a:solidFill>
                <a:latin typeface="JetBrains Mono"/>
              </a:rPr>
              <a:t>docker </a:t>
            </a:r>
            <a:r>
              <a:rPr sz="1600" dirty="0" err="1">
                <a:solidFill>
                  <a:srgbClr val="F5F5F5"/>
                </a:solidFill>
                <a:latin typeface="JetBrains Mono"/>
              </a:rPr>
              <a:t>ps</a:t>
            </a:r>
            <a:r>
              <a:rPr sz="1600" dirty="0">
                <a:solidFill>
                  <a:srgbClr val="F5F5F5"/>
                </a:solidFill>
                <a:latin typeface="JetBrains Mono"/>
              </a:rPr>
              <a:t> -a                 # </a:t>
            </a:r>
            <a:r>
              <a:rPr sz="1600" dirty="0" err="1">
                <a:solidFill>
                  <a:srgbClr val="F5F5F5"/>
                </a:solidFill>
                <a:latin typeface="JetBrains Mono"/>
              </a:rPr>
              <a:t>ყველა</a:t>
            </a:r>
            <a:endParaRPr sz="1600" dirty="0">
              <a:solidFill>
                <a:srgbClr val="F5F5F5"/>
              </a:solidFill>
              <a:latin typeface="JetBrains Mono"/>
            </a:endParaRPr>
          </a:p>
          <a:p>
            <a:pPr algn="l"/>
            <a:r>
              <a:rPr sz="1600" dirty="0">
                <a:solidFill>
                  <a:srgbClr val="F5F5F5"/>
                </a:solidFill>
                <a:latin typeface="JetBrains Mono"/>
              </a:rPr>
              <a:t>docker stop web              # </a:t>
            </a:r>
            <a:r>
              <a:rPr sz="1600" dirty="0" err="1">
                <a:solidFill>
                  <a:srgbClr val="F5F5F5"/>
                </a:solidFill>
                <a:latin typeface="JetBrains Mono"/>
              </a:rPr>
              <a:t>გაჩერება</a:t>
            </a:r>
            <a:endParaRPr sz="1600" dirty="0">
              <a:solidFill>
                <a:srgbClr val="F5F5F5"/>
              </a:solidFill>
              <a:latin typeface="JetBrains Mono"/>
            </a:endParaRPr>
          </a:p>
          <a:p>
            <a:pPr algn="l"/>
            <a:r>
              <a:rPr sz="1600" dirty="0">
                <a:solidFill>
                  <a:srgbClr val="F5F5F5"/>
                </a:solidFill>
                <a:latin typeface="JetBrains Mono"/>
              </a:rPr>
              <a:t>docker rm web                # </a:t>
            </a:r>
            <a:r>
              <a:rPr sz="1600" dirty="0" err="1">
                <a:solidFill>
                  <a:srgbClr val="F5F5F5"/>
                </a:solidFill>
                <a:latin typeface="JetBrains Mono"/>
              </a:rPr>
              <a:t>წაშლა</a:t>
            </a:r>
            <a:endParaRPr sz="1600" dirty="0">
              <a:solidFill>
                <a:srgbClr val="F5F5F5"/>
              </a:solidFill>
              <a:latin typeface="JetBrains Mono"/>
            </a:endParaRPr>
          </a:p>
          <a:p>
            <a:pPr algn="l"/>
            <a:r>
              <a:rPr sz="1600" dirty="0">
                <a:solidFill>
                  <a:srgbClr val="F5F5F5"/>
                </a:solidFill>
                <a:latin typeface="JetBrains Mono"/>
              </a:rPr>
              <a:t> </a:t>
            </a:r>
          </a:p>
          <a:p>
            <a:pPr algn="l"/>
            <a:r>
              <a:rPr sz="1600" dirty="0">
                <a:solidFill>
                  <a:srgbClr val="F5F5F5"/>
                </a:solidFill>
                <a:latin typeface="JetBrains Mono"/>
              </a:rPr>
              <a:t># Container-</a:t>
            </a:r>
            <a:r>
              <a:rPr sz="1600" dirty="0" err="1">
                <a:solidFill>
                  <a:srgbClr val="F5F5F5"/>
                </a:solidFill>
                <a:latin typeface="JetBrains Mono"/>
              </a:rPr>
              <a:t>ში</a:t>
            </a:r>
            <a:r>
              <a:rPr sz="1600" dirty="0">
                <a:solidFill>
                  <a:srgbClr val="F5F5F5"/>
                </a:solidFill>
                <a:latin typeface="JetBrains Mono"/>
              </a:rPr>
              <a:t> </a:t>
            </a:r>
            <a:r>
              <a:rPr sz="1600" dirty="0" err="1">
                <a:solidFill>
                  <a:srgbClr val="F5F5F5"/>
                </a:solidFill>
                <a:latin typeface="JetBrains Mono"/>
              </a:rPr>
              <a:t>შესვლა</a:t>
            </a:r>
            <a:r>
              <a:rPr sz="1600" dirty="0">
                <a:solidFill>
                  <a:srgbClr val="F5F5F5"/>
                </a:solidFill>
                <a:latin typeface="JetBrains Mono"/>
              </a:rPr>
              <a:t> / </a:t>
            </a:r>
            <a:r>
              <a:rPr sz="1600" dirty="0" err="1">
                <a:solidFill>
                  <a:srgbClr val="F5F5F5"/>
                </a:solidFill>
                <a:latin typeface="JetBrains Mono"/>
              </a:rPr>
              <a:t>ლოგები</a:t>
            </a:r>
            <a:endParaRPr sz="1600" dirty="0">
              <a:solidFill>
                <a:srgbClr val="F5F5F5"/>
              </a:solidFill>
              <a:latin typeface="JetBrains Mono"/>
            </a:endParaRPr>
          </a:p>
          <a:p>
            <a:pPr algn="l"/>
            <a:r>
              <a:rPr sz="1600" dirty="0">
                <a:solidFill>
                  <a:srgbClr val="F5F5F5"/>
                </a:solidFill>
                <a:latin typeface="JetBrains Mono"/>
              </a:rPr>
              <a:t>docker exec -it web bash     # shell</a:t>
            </a:r>
          </a:p>
          <a:p>
            <a:pPr algn="l"/>
            <a:r>
              <a:rPr sz="1600" dirty="0">
                <a:solidFill>
                  <a:srgbClr val="F5F5F5"/>
                </a:solidFill>
                <a:latin typeface="JetBrains Mono"/>
              </a:rPr>
              <a:t>docker logs -f web           # real-time logs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6355080"/>
            <a:ext cx="11094415" cy="365760"/>
          </a:xfrm>
          <a:prstGeom prst="roundRect">
            <a:avLst>
              <a:gd name="adj" fmla="val 5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7315200" cy="301621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000" b="0" dirty="0">
                <a:solidFill>
                  <a:srgbClr val="555555"/>
                </a:solidFill>
                <a:latin typeface="BOG 2018"/>
              </a:rPr>
              <a:t>Docker &amp; Dev Containers  ·  slide 09 / 2</a:t>
            </a:r>
            <a:r>
              <a:rPr lang="en-US" sz="1000" b="0" dirty="0">
                <a:solidFill>
                  <a:srgbClr val="555555"/>
                </a:solidFill>
                <a:latin typeface="BOG 2018"/>
              </a:rPr>
              <a:t>0</a:t>
            </a:r>
            <a:endParaRPr sz="1000" b="0" dirty="0">
              <a:solidFill>
                <a:srgbClr val="555555"/>
              </a:solidFill>
              <a:latin typeface="BOG 2018"/>
            </a:endParaRPr>
          </a:p>
        </p:txBody>
      </p:sp>
      <p:sp>
        <p:nvSpPr>
          <p:cNvPr id="7" name="Oval 6"/>
          <p:cNvSpPr/>
          <p:nvPr/>
        </p:nvSpPr>
        <p:spPr>
          <a:xfrm>
            <a:off x="11368735" y="6428232"/>
            <a:ext cx="128016" cy="128016"/>
          </a:xfrm>
          <a:prstGeom prst="ellipse">
            <a:avLst/>
          </a:prstGeom>
          <a:solidFill>
            <a:srgbClr val="FF6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777240"/>
          </a:xfrm>
          <a:prstGeom prst="roundRect">
            <a:avLst>
              <a:gd name="adj" fmla="val 35000"/>
            </a:avLst>
          </a:prstGeom>
          <a:solidFill>
            <a:srgbClr val="FF6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91440" rtlCol="0" anchor="ctr"/>
          <a:lstStyle/>
          <a:p>
            <a:pPr algn="l"/>
            <a:r>
              <a:rPr sz="2800" b="1" dirty="0" err="1">
                <a:solidFill>
                  <a:srgbClr val="FFFFFF"/>
                </a:solidFill>
                <a:latin typeface="BOG 2018"/>
              </a:rPr>
              <a:t>Dockerfile</a:t>
            </a:r>
            <a:endParaRPr sz="2800" b="1" dirty="0">
              <a:solidFill>
                <a:srgbClr val="FFFFFF"/>
              </a:solidFill>
              <a:latin typeface="BOG 2018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7772400" cy="466344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182880" bIns="137160" rtlCol="0" anchor="ctr"/>
          <a:lstStyle/>
          <a:p>
            <a:pPr algn="l"/>
            <a:r>
              <a:rPr sz="1500" dirty="0">
                <a:solidFill>
                  <a:srgbClr val="F5F5F5"/>
                </a:solidFill>
                <a:latin typeface="JetBrains Mono"/>
              </a:rPr>
              <a:t>FROM python:3.12-slim       # </a:t>
            </a:r>
            <a:r>
              <a:rPr sz="1500" dirty="0" err="1">
                <a:solidFill>
                  <a:srgbClr val="F5F5F5"/>
                </a:solidFill>
                <a:latin typeface="JetBrains Mono"/>
              </a:rPr>
              <a:t>საბაზისო</a:t>
            </a:r>
            <a:r>
              <a:rPr sz="1500" dirty="0">
                <a:solidFill>
                  <a:srgbClr val="F5F5F5"/>
                </a:solidFill>
                <a:latin typeface="JetBrains Mono"/>
              </a:rPr>
              <a:t> image</a:t>
            </a:r>
          </a:p>
          <a:p>
            <a:pPr algn="l"/>
            <a:r>
              <a:rPr sz="1500" dirty="0">
                <a:solidFill>
                  <a:srgbClr val="F5F5F5"/>
                </a:solidFill>
                <a:latin typeface="JetBrains Mono"/>
              </a:rPr>
              <a:t>ENV </a:t>
            </a:r>
            <a:r>
              <a:rPr lang="en-US" sz="1500" dirty="0">
                <a:solidFill>
                  <a:srgbClr val="F5F5F5"/>
                </a:solidFill>
                <a:latin typeface="JetBrains Mono"/>
              </a:rPr>
              <a:t>PYTHONDONTWRITEBYTECODE</a:t>
            </a:r>
            <a:r>
              <a:rPr sz="1500" dirty="0">
                <a:solidFill>
                  <a:srgbClr val="F5F5F5"/>
                </a:solidFill>
                <a:latin typeface="JetBrains Mono"/>
              </a:rPr>
              <a:t>=1       # env variables</a:t>
            </a:r>
          </a:p>
          <a:p>
            <a:pPr algn="l"/>
            <a:r>
              <a:rPr sz="1500" dirty="0">
                <a:solidFill>
                  <a:srgbClr val="F5F5F5"/>
                </a:solidFill>
                <a:latin typeface="JetBrains Mono"/>
              </a:rPr>
              <a:t>WORKDIR /app                 # </a:t>
            </a:r>
            <a:r>
              <a:rPr sz="1500" dirty="0" err="1">
                <a:solidFill>
                  <a:srgbClr val="F5F5F5"/>
                </a:solidFill>
                <a:latin typeface="JetBrains Mono"/>
              </a:rPr>
              <a:t>სამუშაო</a:t>
            </a:r>
            <a:r>
              <a:rPr sz="1500" dirty="0">
                <a:solidFill>
                  <a:srgbClr val="F5F5F5"/>
                </a:solidFill>
                <a:latin typeface="JetBrains Mono"/>
              </a:rPr>
              <a:t> </a:t>
            </a:r>
            <a:r>
              <a:rPr sz="1500" dirty="0" err="1">
                <a:solidFill>
                  <a:srgbClr val="F5F5F5"/>
                </a:solidFill>
                <a:latin typeface="JetBrains Mono"/>
              </a:rPr>
              <a:t>dir</a:t>
            </a:r>
            <a:endParaRPr sz="1500" dirty="0">
              <a:solidFill>
                <a:srgbClr val="F5F5F5"/>
              </a:solidFill>
              <a:latin typeface="JetBrains Mono"/>
            </a:endParaRPr>
          </a:p>
          <a:p>
            <a:pPr algn="l"/>
            <a:r>
              <a:rPr sz="1500" dirty="0">
                <a:solidFill>
                  <a:srgbClr val="F5F5F5"/>
                </a:solidFill>
                <a:latin typeface="JetBrains Mono"/>
              </a:rPr>
              <a:t> </a:t>
            </a:r>
          </a:p>
          <a:p>
            <a:pPr algn="l"/>
            <a:r>
              <a:rPr sz="1500" dirty="0">
                <a:solidFill>
                  <a:srgbClr val="F5F5F5"/>
                </a:solidFill>
                <a:latin typeface="JetBrains Mono"/>
              </a:rPr>
              <a:t>RUN apt-get update &amp;&amp; \      # </a:t>
            </a:r>
            <a:r>
              <a:rPr sz="1500" dirty="0" err="1">
                <a:solidFill>
                  <a:srgbClr val="F5F5F5"/>
                </a:solidFill>
                <a:latin typeface="JetBrains Mono"/>
              </a:rPr>
              <a:t>სისტემური</a:t>
            </a:r>
            <a:r>
              <a:rPr sz="1500" dirty="0">
                <a:solidFill>
                  <a:srgbClr val="F5F5F5"/>
                </a:solidFill>
                <a:latin typeface="JetBrains Mono"/>
              </a:rPr>
              <a:t> de</a:t>
            </a:r>
            <a:r>
              <a:rPr lang="en-US" sz="1500" dirty="0">
                <a:solidFill>
                  <a:srgbClr val="F5F5F5"/>
                </a:solidFill>
                <a:latin typeface="JetBrains Mono"/>
              </a:rPr>
              <a:t>ps</a:t>
            </a:r>
            <a:endParaRPr sz="1500" dirty="0">
              <a:solidFill>
                <a:srgbClr val="F5F5F5"/>
              </a:solidFill>
              <a:latin typeface="JetBrains Mono"/>
            </a:endParaRPr>
          </a:p>
          <a:p>
            <a:pPr algn="l"/>
            <a:r>
              <a:rPr lang="en-US" sz="1500" dirty="0">
                <a:solidFill>
                  <a:srgbClr val="F5F5F5"/>
                </a:solidFill>
                <a:latin typeface="JetBrains Mono"/>
              </a:rPr>
              <a:t>    apt-get install -y --no-install-recommends git \ </a:t>
            </a:r>
          </a:p>
          <a:p>
            <a:pPr algn="l"/>
            <a:r>
              <a:rPr lang="en-US" sz="1500" dirty="0">
                <a:solidFill>
                  <a:srgbClr val="F5F5F5"/>
                </a:solidFill>
                <a:latin typeface="JetBrains Mono"/>
              </a:rPr>
              <a:t>     &amp;&amp; rm -rf /var/lib/apt/lists/*</a:t>
            </a:r>
          </a:p>
          <a:p>
            <a:pPr algn="l"/>
            <a:r>
              <a:rPr sz="1500" dirty="0">
                <a:solidFill>
                  <a:srgbClr val="F5F5F5"/>
                </a:solidFill>
                <a:latin typeface="JetBrains Mono"/>
              </a:rPr>
              <a:t> </a:t>
            </a:r>
          </a:p>
          <a:p>
            <a:pPr algn="l"/>
            <a:r>
              <a:rPr sz="1500" dirty="0">
                <a:solidFill>
                  <a:srgbClr val="F5F5F5"/>
                </a:solidFill>
                <a:latin typeface="JetBrains Mono"/>
              </a:rPr>
              <a:t>COPY requirements.txt .      # </a:t>
            </a:r>
            <a:r>
              <a:rPr sz="1500" dirty="0" err="1">
                <a:solidFill>
                  <a:srgbClr val="F5F5F5"/>
                </a:solidFill>
                <a:latin typeface="JetBrains Mono"/>
              </a:rPr>
              <a:t>ჯერ</a:t>
            </a:r>
            <a:r>
              <a:rPr sz="1500" dirty="0">
                <a:solidFill>
                  <a:srgbClr val="F5F5F5"/>
                </a:solidFill>
                <a:latin typeface="JetBrains Mono"/>
              </a:rPr>
              <a:t> deps (cache!)</a:t>
            </a:r>
          </a:p>
          <a:p>
            <a:pPr algn="l"/>
            <a:r>
              <a:rPr sz="1500" dirty="0">
                <a:solidFill>
                  <a:srgbClr val="F5F5F5"/>
                </a:solidFill>
                <a:latin typeface="JetBrains Mono"/>
              </a:rPr>
              <a:t>RUN pip install -r requirements.txt</a:t>
            </a:r>
          </a:p>
          <a:p>
            <a:pPr algn="l"/>
            <a:r>
              <a:rPr sz="1500" dirty="0">
                <a:solidFill>
                  <a:srgbClr val="F5F5F5"/>
                </a:solidFill>
                <a:latin typeface="JetBrains Mono"/>
              </a:rPr>
              <a:t> </a:t>
            </a:r>
          </a:p>
          <a:p>
            <a:pPr algn="l"/>
            <a:r>
              <a:rPr sz="1500" dirty="0">
                <a:solidFill>
                  <a:srgbClr val="F5F5F5"/>
                </a:solidFill>
                <a:latin typeface="JetBrains Mono"/>
              </a:rPr>
              <a:t>COPY . .                     # </a:t>
            </a:r>
            <a:r>
              <a:rPr sz="1500" dirty="0" err="1">
                <a:solidFill>
                  <a:srgbClr val="F5F5F5"/>
                </a:solidFill>
                <a:latin typeface="JetBrains Mono"/>
              </a:rPr>
              <a:t>მერე</a:t>
            </a:r>
            <a:r>
              <a:rPr sz="1500" dirty="0">
                <a:solidFill>
                  <a:srgbClr val="F5F5F5"/>
                </a:solidFill>
                <a:latin typeface="JetBrains Mono"/>
              </a:rPr>
              <a:t> </a:t>
            </a:r>
            <a:r>
              <a:rPr sz="1500" dirty="0" err="1">
                <a:solidFill>
                  <a:srgbClr val="F5F5F5"/>
                </a:solidFill>
                <a:latin typeface="JetBrains Mono"/>
              </a:rPr>
              <a:t>კოდი</a:t>
            </a:r>
            <a:endParaRPr sz="1500" dirty="0">
              <a:solidFill>
                <a:srgbClr val="F5F5F5"/>
              </a:solidFill>
              <a:latin typeface="JetBrains Mono"/>
            </a:endParaRPr>
          </a:p>
          <a:p>
            <a:pPr algn="l"/>
            <a:r>
              <a:rPr sz="1500" dirty="0">
                <a:solidFill>
                  <a:srgbClr val="F5F5F5"/>
                </a:solidFill>
                <a:latin typeface="JetBrains Mono"/>
              </a:rPr>
              <a:t>EXPOSE 8000                  # port</a:t>
            </a:r>
          </a:p>
          <a:p>
            <a:pPr algn="l"/>
            <a:r>
              <a:rPr sz="1500" dirty="0">
                <a:solidFill>
                  <a:srgbClr val="F5F5F5"/>
                </a:solidFill>
                <a:latin typeface="JetBrains Mono"/>
              </a:rPr>
              <a:t>CMD ["python", "main.py"]    # default </a:t>
            </a:r>
            <a:r>
              <a:rPr sz="1500" dirty="0" err="1">
                <a:solidFill>
                  <a:srgbClr val="F5F5F5"/>
                </a:solidFill>
                <a:latin typeface="JetBrains Mono"/>
              </a:rPr>
              <a:t>ბრძანება</a:t>
            </a:r>
            <a:endParaRPr sz="1500" dirty="0">
              <a:solidFill>
                <a:srgbClr val="F5F5F5"/>
              </a:solidFill>
              <a:latin typeface="JetBrains Mono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686800" y="1417320"/>
            <a:ext cx="2956255" cy="960120"/>
          </a:xfrm>
          <a:prstGeom prst="roundRect">
            <a:avLst>
              <a:gd name="adj" fmla="val 12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23960" y="1508760"/>
            <a:ext cx="2681935" cy="36576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600" b="1">
                <a:solidFill>
                  <a:srgbClr val="FF6022"/>
                </a:solidFill>
                <a:latin typeface="JetBrains Mono"/>
              </a:rPr>
              <a:t>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23960" y="1920240"/>
            <a:ext cx="2681935" cy="36576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BOG 2018"/>
              </a:rPr>
              <a:t>საიდან ვიწყებთ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2468880"/>
            <a:ext cx="2956255" cy="960120"/>
          </a:xfrm>
          <a:prstGeom prst="roundRect">
            <a:avLst>
              <a:gd name="adj" fmla="val 12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23960" y="2560320"/>
            <a:ext cx="2681935" cy="36576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600" b="1">
                <a:solidFill>
                  <a:srgbClr val="FF6022"/>
                </a:solidFill>
                <a:latin typeface="JetBrains Mono"/>
              </a:rPr>
              <a:t>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23960" y="2971800"/>
            <a:ext cx="2681935" cy="36576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BOG 2018"/>
              </a:rPr>
              <a:t>build-time ბრძანება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3520440"/>
            <a:ext cx="2956255" cy="960120"/>
          </a:xfrm>
          <a:prstGeom prst="roundRect">
            <a:avLst>
              <a:gd name="adj" fmla="val 12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823960" y="3611880"/>
            <a:ext cx="2681935" cy="36576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600" b="1">
                <a:solidFill>
                  <a:srgbClr val="FF6022"/>
                </a:solidFill>
                <a:latin typeface="JetBrains Mono"/>
              </a:rPr>
              <a:t>COPY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4023360"/>
            <a:ext cx="2681935" cy="36576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BOG 2018"/>
              </a:rPr>
              <a:t>ფაილების კოპირება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4572000"/>
            <a:ext cx="2956255" cy="960120"/>
          </a:xfrm>
          <a:prstGeom prst="roundRect">
            <a:avLst>
              <a:gd name="adj" fmla="val 12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23960" y="4663440"/>
            <a:ext cx="2681935" cy="36576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600" b="1">
                <a:solidFill>
                  <a:srgbClr val="FF6022"/>
                </a:solidFill>
                <a:latin typeface="JetBrains Mono"/>
              </a:rPr>
              <a:t>CMD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5074920"/>
            <a:ext cx="2681935" cy="36576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BOG 2018"/>
              </a:rPr>
              <a:t>runtime ბრძანება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6355080"/>
            <a:ext cx="11094415" cy="365760"/>
          </a:xfrm>
          <a:prstGeom prst="roundRect">
            <a:avLst>
              <a:gd name="adj" fmla="val 5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6400800"/>
            <a:ext cx="7315200" cy="301621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000" b="0" dirty="0">
                <a:solidFill>
                  <a:srgbClr val="555555"/>
                </a:solidFill>
                <a:latin typeface="BOG 2018"/>
              </a:rPr>
              <a:t>Docker &amp; Dev Containers  ·  slide 10 / 2</a:t>
            </a:r>
            <a:r>
              <a:rPr lang="en-US" sz="1000" b="0" dirty="0">
                <a:solidFill>
                  <a:srgbClr val="555555"/>
                </a:solidFill>
                <a:latin typeface="BOG 2018"/>
              </a:rPr>
              <a:t>0</a:t>
            </a:r>
            <a:endParaRPr sz="1000" b="0" dirty="0">
              <a:solidFill>
                <a:srgbClr val="555555"/>
              </a:solidFill>
              <a:latin typeface="BOG 2018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1368735" y="6428232"/>
            <a:ext cx="128016" cy="128016"/>
          </a:xfrm>
          <a:prstGeom prst="ellipse">
            <a:avLst/>
          </a:prstGeom>
          <a:solidFill>
            <a:srgbClr val="FF6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777240"/>
          </a:xfrm>
          <a:prstGeom prst="roundRect">
            <a:avLst>
              <a:gd name="adj" fmla="val 35000"/>
            </a:avLst>
          </a:prstGeom>
          <a:solidFill>
            <a:srgbClr val="FF6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91440" rtlCol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BOG 2018"/>
              </a:rPr>
              <a:t>Image Layers &amp; Cache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6400800" cy="685800"/>
          </a:xfrm>
          <a:prstGeom prst="roundRect">
            <a:avLst>
              <a:gd name="adj" fmla="val 15000"/>
            </a:avLst>
          </a:prstGeom>
          <a:solidFill>
            <a:srgbClr val="FF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627632"/>
            <a:ext cx="3200400" cy="6858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JetBrains Mono"/>
              </a:rPr>
              <a:t>COPY . 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627632"/>
            <a:ext cx="2743200" cy="6858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BOG 2018"/>
              </a:rPr>
              <a:t>კოდი (ხშირად იცვლება)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13432"/>
            <a:ext cx="6400800" cy="685800"/>
          </a:xfrm>
          <a:prstGeom prst="roundRect">
            <a:avLst>
              <a:gd name="adj" fmla="val 15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386584"/>
            <a:ext cx="3200400" cy="6858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JetBrains Mono"/>
              </a:rPr>
              <a:t>RUN pip install 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386584"/>
            <a:ext cx="2743200" cy="6858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BOG 2018"/>
              </a:rPr>
              <a:t>Python deps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072384"/>
            <a:ext cx="6400800" cy="685800"/>
          </a:xfrm>
          <a:prstGeom prst="roundRect">
            <a:avLst>
              <a:gd name="adj" fmla="val 15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3145536"/>
            <a:ext cx="3200400" cy="6858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JetBrains Mono"/>
              </a:rPr>
              <a:t>RUN apt-get ...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145536"/>
            <a:ext cx="2743200" cy="6858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BOG 2018"/>
              </a:rPr>
              <a:t>System deps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831336"/>
            <a:ext cx="6400800" cy="685800"/>
          </a:xfrm>
          <a:prstGeom prst="roundRect">
            <a:avLst>
              <a:gd name="adj" fmla="val 15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3904488"/>
            <a:ext cx="3200400" cy="6858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JetBrains Mono"/>
              </a:rPr>
              <a:t>WORKDIR /app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904488"/>
            <a:ext cx="2743200" cy="6858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BOG 2018"/>
              </a:rPr>
              <a:t>Config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590288"/>
            <a:ext cx="6400800" cy="685800"/>
          </a:xfrm>
          <a:prstGeom prst="roundRect">
            <a:avLst>
              <a:gd name="adj" fmla="val 15000"/>
            </a:avLst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4663440"/>
            <a:ext cx="3200400" cy="6858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JetBrains Mono"/>
              </a:rPr>
              <a:t>FROM python:3.12-slim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663440"/>
            <a:ext cx="2743200" cy="6858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BOG 2018"/>
              </a:rPr>
              <a:t>Base image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554480"/>
            <a:ext cx="3596335" cy="4114800"/>
          </a:xfrm>
          <a:prstGeom prst="roundRect">
            <a:avLst>
              <a:gd name="adj" fmla="val 1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1737360"/>
            <a:ext cx="3230575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2000" b="1">
                <a:solidFill>
                  <a:srgbClr val="FF6022"/>
                </a:solidFill>
                <a:latin typeface="BOG 2018"/>
              </a:rPr>
              <a:t>Cache წესი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286000"/>
            <a:ext cx="3230575" cy="32004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BOG 2018"/>
              </a:rPr>
              <a:t>Dockerfile-ში:</a:t>
            </a:r>
          </a:p>
          <a:p>
            <a:pPr algn="l"/>
            <a:endParaRPr sz="1500" b="0">
              <a:solidFill>
                <a:srgbClr val="1A1A1A"/>
              </a:solidFill>
              <a:latin typeface="BOG 2018"/>
            </a:endParaRPr>
          </a:p>
          <a:p>
            <a:pPr algn="l"/>
            <a:r>
              <a:rPr sz="1500" b="0">
                <a:solidFill>
                  <a:srgbClr val="1A1A1A"/>
                </a:solidFill>
                <a:latin typeface="BOG 2018"/>
              </a:rPr>
              <a:t>იშვიათად ცვალებადი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BOG 2018"/>
              </a:rPr>
              <a:t>↑ ზევით (FROM, RUN)</a:t>
            </a:r>
          </a:p>
          <a:p>
            <a:pPr algn="l"/>
            <a:endParaRPr sz="1500" b="0">
              <a:solidFill>
                <a:srgbClr val="1A1A1A"/>
              </a:solidFill>
              <a:latin typeface="BOG 2018"/>
            </a:endParaRPr>
          </a:p>
          <a:p>
            <a:pPr algn="l"/>
            <a:r>
              <a:rPr sz="1500" b="0">
                <a:solidFill>
                  <a:srgbClr val="1A1A1A"/>
                </a:solidFill>
                <a:latin typeface="BOG 2018"/>
              </a:rPr>
              <a:t>ხშირად ცვალებადი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BOG 2018"/>
              </a:rPr>
              <a:t>↓ ქვევით (COPY . .)</a:t>
            </a:r>
          </a:p>
          <a:p>
            <a:pPr algn="l"/>
            <a:endParaRPr sz="1500" b="0">
              <a:solidFill>
                <a:srgbClr val="1A1A1A"/>
              </a:solidFill>
              <a:latin typeface="BOG 2018"/>
            </a:endParaRPr>
          </a:p>
          <a:p>
            <a:pPr algn="l"/>
            <a:r>
              <a:rPr sz="1500" b="0">
                <a:solidFill>
                  <a:srgbClr val="1A1A1A"/>
                </a:solidFill>
                <a:latin typeface="BOG 2018"/>
              </a:rPr>
              <a:t>= cache მუშაობს</a:t>
            </a:r>
          </a:p>
          <a:p>
            <a:pPr algn="l"/>
            <a:r>
              <a:rPr sz="1500" b="0">
                <a:solidFill>
                  <a:srgbClr val="1A1A1A"/>
                </a:solidFill>
                <a:latin typeface="BOG 2018"/>
              </a:rPr>
              <a:t>= სწრაფი build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6355080"/>
            <a:ext cx="11094415" cy="365760"/>
          </a:xfrm>
          <a:prstGeom prst="roundRect">
            <a:avLst>
              <a:gd name="adj" fmla="val 5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6400800"/>
            <a:ext cx="7315200" cy="301621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000" b="0" dirty="0">
                <a:solidFill>
                  <a:srgbClr val="555555"/>
                </a:solidFill>
                <a:latin typeface="BOG 2018"/>
              </a:rPr>
              <a:t>Docker &amp; Dev Containers  ·  slide 11 / 2</a:t>
            </a:r>
            <a:r>
              <a:rPr lang="en-US" sz="1000" b="0" dirty="0">
                <a:solidFill>
                  <a:srgbClr val="555555"/>
                </a:solidFill>
                <a:latin typeface="BOG 2018"/>
              </a:rPr>
              <a:t>0</a:t>
            </a:r>
            <a:endParaRPr sz="1000" b="0" dirty="0">
              <a:solidFill>
                <a:srgbClr val="555555"/>
              </a:solidFill>
              <a:latin typeface="BOG 2018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1368735" y="6428232"/>
            <a:ext cx="128016" cy="128016"/>
          </a:xfrm>
          <a:prstGeom prst="ellipse">
            <a:avLst/>
          </a:prstGeom>
          <a:solidFill>
            <a:srgbClr val="FF6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777240"/>
          </a:xfrm>
          <a:prstGeom prst="roundRect">
            <a:avLst>
              <a:gd name="adj" fmla="val 35000"/>
            </a:avLst>
          </a:prstGeom>
          <a:solidFill>
            <a:srgbClr val="FF6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91440" rtlCol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BOG 2018"/>
              </a:rPr>
              <a:t>Docker Compose — მრავალკონტეინერიანი აპლიკაციები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858000" cy="466344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182880" bIns="137160" rtlCol="0" anchor="ctr"/>
          <a:lstStyle/>
          <a:p>
            <a:pPr algn="l"/>
            <a:r>
              <a:rPr sz="1400" dirty="0">
                <a:solidFill>
                  <a:srgbClr val="F5F5F5"/>
                </a:solidFill>
                <a:latin typeface="JetBrains Mono"/>
              </a:rPr>
              <a:t># docker-</a:t>
            </a:r>
            <a:r>
              <a:rPr sz="1400" dirty="0" err="1">
                <a:solidFill>
                  <a:srgbClr val="F5F5F5"/>
                </a:solidFill>
                <a:latin typeface="JetBrains Mono"/>
              </a:rPr>
              <a:t>compose.yml</a:t>
            </a:r>
            <a:endParaRPr sz="1400" dirty="0">
              <a:solidFill>
                <a:srgbClr val="F5F5F5"/>
              </a:solidFill>
              <a:latin typeface="JetBrains Mono"/>
            </a:endParaRPr>
          </a:p>
          <a:p>
            <a:pPr algn="l"/>
            <a:r>
              <a:rPr sz="1400" dirty="0">
                <a:solidFill>
                  <a:srgbClr val="F5F5F5"/>
                </a:solidFill>
                <a:latin typeface="JetBrains Mono"/>
              </a:rPr>
              <a:t>services:</a:t>
            </a:r>
          </a:p>
          <a:p>
            <a:pPr algn="l"/>
            <a:r>
              <a:rPr sz="1400" dirty="0">
                <a:solidFill>
                  <a:srgbClr val="F5F5F5"/>
                </a:solidFill>
                <a:latin typeface="JetBrains Mono"/>
              </a:rPr>
              <a:t>  web:</a:t>
            </a:r>
          </a:p>
          <a:p>
            <a:pPr algn="l"/>
            <a:r>
              <a:rPr sz="1400" dirty="0">
                <a:solidFill>
                  <a:srgbClr val="F5F5F5"/>
                </a:solidFill>
                <a:latin typeface="JetBrains Mono"/>
              </a:rPr>
              <a:t>    build: .</a:t>
            </a:r>
          </a:p>
          <a:p>
            <a:pPr algn="l"/>
            <a:r>
              <a:rPr sz="1400" dirty="0">
                <a:solidFill>
                  <a:srgbClr val="F5F5F5"/>
                </a:solidFill>
                <a:latin typeface="JetBrains Mono"/>
              </a:rPr>
              <a:t>    ports: ["8000:8000"]</a:t>
            </a:r>
          </a:p>
          <a:p>
            <a:pPr algn="l"/>
            <a:r>
              <a:rPr sz="1400" dirty="0">
                <a:solidFill>
                  <a:srgbClr val="F5F5F5"/>
                </a:solidFill>
                <a:latin typeface="JetBrains Mono"/>
              </a:rPr>
              <a:t>    </a:t>
            </a:r>
            <a:r>
              <a:rPr sz="1400" dirty="0" err="1">
                <a:solidFill>
                  <a:srgbClr val="F5F5F5"/>
                </a:solidFill>
                <a:latin typeface="JetBrains Mono"/>
              </a:rPr>
              <a:t>depends_on</a:t>
            </a:r>
            <a:r>
              <a:rPr sz="1400" dirty="0">
                <a:solidFill>
                  <a:srgbClr val="F5F5F5"/>
                </a:solidFill>
                <a:latin typeface="JetBrains Mono"/>
              </a:rPr>
              <a:t>: [</a:t>
            </a:r>
            <a:r>
              <a:rPr sz="1400" dirty="0" err="1">
                <a:solidFill>
                  <a:srgbClr val="F5F5F5"/>
                </a:solidFill>
                <a:latin typeface="JetBrains Mono"/>
              </a:rPr>
              <a:t>db</a:t>
            </a:r>
            <a:r>
              <a:rPr sz="1400" dirty="0">
                <a:solidFill>
                  <a:srgbClr val="F5F5F5"/>
                </a:solidFill>
                <a:latin typeface="JetBrains Mono"/>
              </a:rPr>
              <a:t>, cache]</a:t>
            </a:r>
          </a:p>
          <a:p>
            <a:pPr algn="l"/>
            <a:r>
              <a:rPr sz="1400" dirty="0">
                <a:solidFill>
                  <a:srgbClr val="F5F5F5"/>
                </a:solidFill>
                <a:latin typeface="JetBrains Mono"/>
              </a:rPr>
              <a:t>    environment:</a:t>
            </a:r>
          </a:p>
          <a:p>
            <a:pPr algn="l"/>
            <a:r>
              <a:rPr sz="1400" dirty="0">
                <a:solidFill>
                  <a:srgbClr val="F5F5F5"/>
                </a:solidFill>
                <a:latin typeface="JetBrains Mono"/>
              </a:rPr>
              <a:t>      DATABASE_URL: </a:t>
            </a:r>
            <a:r>
              <a:rPr sz="1400" dirty="0" err="1">
                <a:solidFill>
                  <a:srgbClr val="F5F5F5"/>
                </a:solidFill>
                <a:latin typeface="JetBrains Mono"/>
              </a:rPr>
              <a:t>postgresql</a:t>
            </a:r>
            <a:r>
              <a:rPr sz="1400" dirty="0">
                <a:solidFill>
                  <a:srgbClr val="F5F5F5"/>
                </a:solidFill>
                <a:latin typeface="JetBrains Mono"/>
              </a:rPr>
              <a:t>://..@db:5432/</a:t>
            </a:r>
            <a:r>
              <a:rPr sz="1400" dirty="0" err="1">
                <a:solidFill>
                  <a:srgbClr val="F5F5F5"/>
                </a:solidFill>
                <a:latin typeface="JetBrains Mono"/>
              </a:rPr>
              <a:t>mydb</a:t>
            </a:r>
            <a:endParaRPr sz="1400" dirty="0">
              <a:solidFill>
                <a:srgbClr val="F5F5F5"/>
              </a:solidFill>
              <a:latin typeface="JetBrains Mono"/>
            </a:endParaRPr>
          </a:p>
          <a:p>
            <a:pPr algn="l"/>
            <a:r>
              <a:rPr sz="1400" dirty="0">
                <a:solidFill>
                  <a:srgbClr val="F5F5F5"/>
                </a:solidFill>
                <a:latin typeface="JetBrains Mono"/>
              </a:rPr>
              <a:t>  </a:t>
            </a:r>
            <a:r>
              <a:rPr sz="1400" dirty="0" err="1">
                <a:solidFill>
                  <a:srgbClr val="F5F5F5"/>
                </a:solidFill>
                <a:latin typeface="JetBrains Mono"/>
              </a:rPr>
              <a:t>db</a:t>
            </a:r>
            <a:r>
              <a:rPr sz="1400" dirty="0">
                <a:solidFill>
                  <a:srgbClr val="F5F5F5"/>
                </a:solidFill>
                <a:latin typeface="JetBrains Mono"/>
              </a:rPr>
              <a:t>:</a:t>
            </a:r>
          </a:p>
          <a:p>
            <a:pPr algn="l"/>
            <a:r>
              <a:rPr sz="1400" dirty="0">
                <a:solidFill>
                  <a:srgbClr val="F5F5F5"/>
                </a:solidFill>
                <a:latin typeface="JetBrains Mono"/>
              </a:rPr>
              <a:t>    image: postgres:16</a:t>
            </a:r>
          </a:p>
          <a:p>
            <a:pPr algn="l"/>
            <a:r>
              <a:rPr sz="1400" dirty="0">
                <a:solidFill>
                  <a:srgbClr val="F5F5F5"/>
                </a:solidFill>
                <a:latin typeface="JetBrains Mono"/>
              </a:rPr>
              <a:t>    volumes: [</a:t>
            </a:r>
            <a:r>
              <a:rPr sz="1400" dirty="0" err="1">
                <a:solidFill>
                  <a:srgbClr val="F5F5F5"/>
                </a:solidFill>
                <a:latin typeface="JetBrains Mono"/>
              </a:rPr>
              <a:t>pgdata</a:t>
            </a:r>
            <a:r>
              <a:rPr sz="1400" dirty="0">
                <a:solidFill>
                  <a:srgbClr val="F5F5F5"/>
                </a:solidFill>
                <a:latin typeface="JetBrains Mono"/>
              </a:rPr>
              <a:t>:/var/lib/</a:t>
            </a:r>
            <a:r>
              <a:rPr sz="1400" dirty="0" err="1">
                <a:solidFill>
                  <a:srgbClr val="F5F5F5"/>
                </a:solidFill>
                <a:latin typeface="JetBrains Mono"/>
              </a:rPr>
              <a:t>postgresql</a:t>
            </a:r>
            <a:r>
              <a:rPr sz="1400" dirty="0">
                <a:solidFill>
                  <a:srgbClr val="F5F5F5"/>
                </a:solidFill>
                <a:latin typeface="JetBrains Mono"/>
              </a:rPr>
              <a:t>/data]</a:t>
            </a:r>
          </a:p>
          <a:p>
            <a:pPr algn="l"/>
            <a:r>
              <a:rPr sz="1400" dirty="0">
                <a:solidFill>
                  <a:srgbClr val="F5F5F5"/>
                </a:solidFill>
                <a:latin typeface="JetBrains Mono"/>
              </a:rPr>
              <a:t>  cache:</a:t>
            </a:r>
          </a:p>
          <a:p>
            <a:pPr algn="l"/>
            <a:r>
              <a:rPr sz="1400" dirty="0">
                <a:solidFill>
                  <a:srgbClr val="F5F5F5"/>
                </a:solidFill>
                <a:latin typeface="JetBrains Mono"/>
              </a:rPr>
              <a:t>    image: redis:7-alpine</a:t>
            </a:r>
          </a:p>
          <a:p>
            <a:pPr algn="l"/>
            <a:r>
              <a:rPr sz="1400" dirty="0">
                <a:solidFill>
                  <a:srgbClr val="F5F5F5"/>
                </a:solidFill>
                <a:latin typeface="JetBrains Mono"/>
              </a:rPr>
              <a:t>volumes:</a:t>
            </a:r>
          </a:p>
          <a:p>
            <a:pPr algn="l"/>
            <a:r>
              <a:rPr sz="1400" dirty="0">
                <a:solidFill>
                  <a:srgbClr val="F5F5F5"/>
                </a:solidFill>
                <a:latin typeface="JetBrains Mono"/>
              </a:rPr>
              <a:t>  </a:t>
            </a:r>
            <a:r>
              <a:rPr sz="1400" dirty="0" err="1">
                <a:solidFill>
                  <a:srgbClr val="F5F5F5"/>
                </a:solidFill>
                <a:latin typeface="JetBrains Mono"/>
              </a:rPr>
              <a:t>pgdata</a:t>
            </a:r>
            <a:r>
              <a:rPr sz="1400" dirty="0">
                <a:solidFill>
                  <a:srgbClr val="F5F5F5"/>
                </a:solidFill>
                <a:latin typeface="JetBrains Mono"/>
              </a:rPr>
              <a:t>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417320"/>
            <a:ext cx="3870655" cy="1234440"/>
          </a:xfrm>
          <a:prstGeom prst="roundRect">
            <a:avLst>
              <a:gd name="adj" fmla="val 1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09560" y="1554480"/>
            <a:ext cx="3596335" cy="36576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800" b="1">
                <a:solidFill>
                  <a:srgbClr val="FF6022"/>
                </a:solidFill>
                <a:latin typeface="JetBrains Mono"/>
              </a:rPr>
              <a:t>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2011680"/>
            <a:ext cx="3596335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BOG 2018"/>
              </a:rPr>
              <a:t>Python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2788920"/>
            <a:ext cx="3870655" cy="1234440"/>
          </a:xfrm>
          <a:prstGeom prst="roundRect">
            <a:avLst>
              <a:gd name="adj" fmla="val 1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09560" y="2926080"/>
            <a:ext cx="3596335" cy="36576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800" b="1">
                <a:solidFill>
                  <a:srgbClr val="FF6022"/>
                </a:solidFill>
                <a:latin typeface="JetBrains Mono"/>
              </a:rPr>
              <a:t>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3383280"/>
            <a:ext cx="3596335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BOG 2018"/>
              </a:rPr>
              <a:t>PostgreSQL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4160520"/>
            <a:ext cx="3870655" cy="1234440"/>
          </a:xfrm>
          <a:prstGeom prst="roundRect">
            <a:avLst>
              <a:gd name="adj" fmla="val 1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09560" y="4297680"/>
            <a:ext cx="3596335" cy="36576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800" b="1">
                <a:solidFill>
                  <a:srgbClr val="FF6022"/>
                </a:solidFill>
                <a:latin typeface="JetBrains Mono"/>
              </a:rPr>
              <a:t>cache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60" y="4754880"/>
            <a:ext cx="3596335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BOG 2018"/>
              </a:rPr>
              <a:t>Redis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6355080"/>
            <a:ext cx="11094415" cy="365760"/>
          </a:xfrm>
          <a:prstGeom prst="roundRect">
            <a:avLst>
              <a:gd name="adj" fmla="val 5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6400800"/>
            <a:ext cx="7315200" cy="301621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000" b="0" dirty="0">
                <a:solidFill>
                  <a:srgbClr val="555555"/>
                </a:solidFill>
                <a:latin typeface="BOG 2018"/>
              </a:rPr>
              <a:t>Docker &amp; Dev Containers  ·  slide 1</a:t>
            </a:r>
            <a:r>
              <a:rPr lang="en-US" sz="1000" b="0" dirty="0">
                <a:solidFill>
                  <a:srgbClr val="555555"/>
                </a:solidFill>
                <a:latin typeface="BOG 2018"/>
              </a:rPr>
              <a:t>2</a:t>
            </a:r>
            <a:r>
              <a:rPr sz="1000" b="0" dirty="0">
                <a:solidFill>
                  <a:srgbClr val="555555"/>
                </a:solidFill>
                <a:latin typeface="BOG 2018"/>
              </a:rPr>
              <a:t> / 2</a:t>
            </a:r>
            <a:r>
              <a:rPr lang="en-US" sz="1000" b="0" dirty="0">
                <a:solidFill>
                  <a:srgbClr val="555555"/>
                </a:solidFill>
                <a:latin typeface="BOG 2018"/>
              </a:rPr>
              <a:t>0</a:t>
            </a:r>
            <a:endParaRPr sz="1000" b="0" dirty="0">
              <a:solidFill>
                <a:srgbClr val="555555"/>
              </a:solidFill>
              <a:latin typeface="BOG 2018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11368735" y="6428232"/>
            <a:ext cx="128016" cy="128016"/>
          </a:xfrm>
          <a:prstGeom prst="ellipse">
            <a:avLst/>
          </a:prstGeom>
          <a:solidFill>
            <a:srgbClr val="FF6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777240"/>
          </a:xfrm>
          <a:prstGeom prst="roundRect">
            <a:avLst>
              <a:gd name="adj" fmla="val 35000"/>
            </a:avLst>
          </a:prstGeom>
          <a:solidFill>
            <a:srgbClr val="FF6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91440" rtlCol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BOG 2018"/>
              </a:rPr>
              <a:t>Docker Compose — ბრძანებები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384048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182880" bIns="137160" rtlCol="0" anchor="ctr"/>
          <a:lstStyle/>
          <a:p>
            <a:pPr algn="l"/>
            <a:r>
              <a:rPr sz="1600" dirty="0">
                <a:solidFill>
                  <a:srgbClr val="F5F5F5"/>
                </a:solidFill>
                <a:latin typeface="JetBrains Mono"/>
              </a:rPr>
              <a:t>docker compose up -d            # </a:t>
            </a:r>
            <a:r>
              <a:rPr sz="1600" dirty="0" err="1">
                <a:solidFill>
                  <a:srgbClr val="F5F5F5"/>
                </a:solidFill>
                <a:latin typeface="JetBrains Mono"/>
              </a:rPr>
              <a:t>ყველა</a:t>
            </a:r>
            <a:r>
              <a:rPr sz="1600" dirty="0">
                <a:solidFill>
                  <a:srgbClr val="F5F5F5"/>
                </a:solidFill>
                <a:latin typeface="JetBrains Mono"/>
              </a:rPr>
              <a:t> </a:t>
            </a:r>
            <a:r>
              <a:rPr sz="1600" dirty="0" err="1">
                <a:solidFill>
                  <a:srgbClr val="F5F5F5"/>
                </a:solidFill>
                <a:latin typeface="JetBrains Mono"/>
              </a:rPr>
              <a:t>სერვისის</a:t>
            </a:r>
            <a:r>
              <a:rPr sz="1600" dirty="0">
                <a:solidFill>
                  <a:srgbClr val="F5F5F5"/>
                </a:solidFill>
                <a:latin typeface="JetBrains Mono"/>
              </a:rPr>
              <a:t> </a:t>
            </a:r>
            <a:r>
              <a:rPr sz="1600" dirty="0" err="1">
                <a:solidFill>
                  <a:srgbClr val="F5F5F5"/>
                </a:solidFill>
                <a:latin typeface="JetBrains Mono"/>
              </a:rPr>
              <a:t>გაშვება</a:t>
            </a:r>
            <a:endParaRPr sz="1600" dirty="0">
              <a:solidFill>
                <a:srgbClr val="F5F5F5"/>
              </a:solidFill>
              <a:latin typeface="JetBrains Mono"/>
            </a:endParaRPr>
          </a:p>
          <a:p>
            <a:pPr algn="l"/>
            <a:r>
              <a:rPr sz="1600" dirty="0">
                <a:solidFill>
                  <a:srgbClr val="F5F5F5"/>
                </a:solidFill>
                <a:latin typeface="JetBrains Mono"/>
              </a:rPr>
              <a:t>docker compose up -d --build    # rebuild + </a:t>
            </a:r>
            <a:r>
              <a:rPr sz="1600" dirty="0" err="1">
                <a:solidFill>
                  <a:srgbClr val="F5F5F5"/>
                </a:solidFill>
                <a:latin typeface="JetBrains Mono"/>
              </a:rPr>
              <a:t>გაშვება</a:t>
            </a:r>
            <a:endParaRPr sz="1600" dirty="0">
              <a:solidFill>
                <a:srgbClr val="F5F5F5"/>
              </a:solidFill>
              <a:latin typeface="JetBrains Mono"/>
            </a:endParaRPr>
          </a:p>
          <a:p>
            <a:pPr algn="l"/>
            <a:r>
              <a:rPr sz="1600" dirty="0">
                <a:solidFill>
                  <a:srgbClr val="F5F5F5"/>
                </a:solidFill>
                <a:latin typeface="JetBrains Mono"/>
              </a:rPr>
              <a:t>docker compose down             # </a:t>
            </a:r>
            <a:r>
              <a:rPr sz="1600" dirty="0" err="1">
                <a:solidFill>
                  <a:srgbClr val="F5F5F5"/>
                </a:solidFill>
                <a:latin typeface="JetBrains Mono"/>
              </a:rPr>
              <a:t>გაჩერება</a:t>
            </a:r>
            <a:endParaRPr sz="1600" dirty="0">
              <a:solidFill>
                <a:srgbClr val="F5F5F5"/>
              </a:solidFill>
              <a:latin typeface="JetBrains Mono"/>
            </a:endParaRPr>
          </a:p>
          <a:p>
            <a:pPr algn="l"/>
            <a:r>
              <a:rPr sz="1600" dirty="0">
                <a:solidFill>
                  <a:srgbClr val="F5F5F5"/>
                </a:solidFill>
                <a:latin typeface="JetBrains Mono"/>
              </a:rPr>
              <a:t> </a:t>
            </a:r>
          </a:p>
          <a:p>
            <a:pPr algn="l"/>
            <a:r>
              <a:rPr sz="1600" dirty="0">
                <a:solidFill>
                  <a:srgbClr val="F5F5F5"/>
                </a:solidFill>
                <a:latin typeface="JetBrains Mono"/>
              </a:rPr>
              <a:t>docker compose </a:t>
            </a:r>
            <a:r>
              <a:rPr sz="1600" dirty="0" err="1">
                <a:solidFill>
                  <a:srgbClr val="F5F5F5"/>
                </a:solidFill>
                <a:latin typeface="JetBrains Mono"/>
              </a:rPr>
              <a:t>ps</a:t>
            </a:r>
            <a:r>
              <a:rPr sz="1600" dirty="0">
                <a:solidFill>
                  <a:srgbClr val="F5F5F5"/>
                </a:solidFill>
                <a:latin typeface="JetBrains Mono"/>
              </a:rPr>
              <a:t>               # </a:t>
            </a:r>
            <a:r>
              <a:rPr sz="1600" dirty="0" err="1">
                <a:solidFill>
                  <a:srgbClr val="F5F5F5"/>
                </a:solidFill>
                <a:latin typeface="JetBrains Mono"/>
              </a:rPr>
              <a:t>სტატუსი</a:t>
            </a:r>
            <a:endParaRPr sz="1600" dirty="0">
              <a:solidFill>
                <a:srgbClr val="F5F5F5"/>
              </a:solidFill>
              <a:latin typeface="JetBrains Mono"/>
            </a:endParaRPr>
          </a:p>
          <a:p>
            <a:pPr algn="l"/>
            <a:r>
              <a:rPr sz="1600" dirty="0">
                <a:solidFill>
                  <a:srgbClr val="F5F5F5"/>
                </a:solidFill>
                <a:latin typeface="JetBrains Mono"/>
              </a:rPr>
              <a:t>docker compose logs -f web      # </a:t>
            </a:r>
            <a:r>
              <a:rPr sz="1600" dirty="0" err="1">
                <a:solidFill>
                  <a:srgbClr val="F5F5F5"/>
                </a:solidFill>
                <a:latin typeface="JetBrains Mono"/>
              </a:rPr>
              <a:t>ლოგები</a:t>
            </a:r>
            <a:r>
              <a:rPr sz="1600" dirty="0">
                <a:solidFill>
                  <a:srgbClr val="F5F5F5"/>
                </a:solidFill>
                <a:latin typeface="JetBrains Mono"/>
              </a:rPr>
              <a:t> (real-time)</a:t>
            </a:r>
          </a:p>
          <a:p>
            <a:pPr algn="l"/>
            <a:r>
              <a:rPr sz="1600" dirty="0">
                <a:solidFill>
                  <a:srgbClr val="F5F5F5"/>
                </a:solidFill>
                <a:latin typeface="JetBrains Mono"/>
              </a:rPr>
              <a:t>docker compose exec web bash    # shell </a:t>
            </a:r>
            <a:r>
              <a:rPr sz="1600" dirty="0" err="1">
                <a:solidFill>
                  <a:srgbClr val="F5F5F5"/>
                </a:solidFill>
                <a:latin typeface="JetBrains Mono"/>
              </a:rPr>
              <a:t>სერვისში</a:t>
            </a:r>
            <a:endParaRPr sz="1600" dirty="0">
              <a:solidFill>
                <a:srgbClr val="F5F5F5"/>
              </a:solidFill>
              <a:latin typeface="JetBrains Mono"/>
            </a:endParaRPr>
          </a:p>
          <a:p>
            <a:pPr algn="l"/>
            <a:r>
              <a:rPr sz="1600" dirty="0">
                <a:solidFill>
                  <a:srgbClr val="F5F5F5"/>
                </a:solidFill>
                <a:latin typeface="JetBrains Mono"/>
              </a:rPr>
              <a:t>docker compose exec </a:t>
            </a:r>
            <a:r>
              <a:rPr sz="1600" dirty="0" err="1">
                <a:solidFill>
                  <a:srgbClr val="F5F5F5"/>
                </a:solidFill>
                <a:latin typeface="JetBrains Mono"/>
              </a:rPr>
              <a:t>db</a:t>
            </a:r>
            <a:r>
              <a:rPr sz="1600" dirty="0">
                <a:solidFill>
                  <a:srgbClr val="F5F5F5"/>
                </a:solidFill>
                <a:latin typeface="JetBrains Mono"/>
              </a:rPr>
              <a:t> </a:t>
            </a:r>
            <a:r>
              <a:rPr sz="1600" dirty="0" err="1">
                <a:solidFill>
                  <a:srgbClr val="F5F5F5"/>
                </a:solidFill>
                <a:latin typeface="JetBrains Mono"/>
              </a:rPr>
              <a:t>psql</a:t>
            </a:r>
            <a:r>
              <a:rPr sz="1600" dirty="0">
                <a:solidFill>
                  <a:srgbClr val="F5F5F5"/>
                </a:solidFill>
                <a:latin typeface="JetBrains Mono"/>
              </a:rPr>
              <a:t> -U </a:t>
            </a:r>
            <a:r>
              <a:rPr sz="1600" dirty="0" err="1">
                <a:solidFill>
                  <a:srgbClr val="F5F5F5"/>
                </a:solidFill>
                <a:latin typeface="JetBrains Mono"/>
              </a:rPr>
              <a:t>postgres</a:t>
            </a:r>
            <a:r>
              <a:rPr sz="1600" dirty="0">
                <a:solidFill>
                  <a:srgbClr val="F5F5F5"/>
                </a:solidFill>
                <a:latin typeface="JetBrains Mono"/>
              </a:rPr>
              <a:t>  # DB shell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486400"/>
            <a:ext cx="11094415" cy="594360"/>
          </a:xfrm>
          <a:prstGeom prst="roundRect">
            <a:avLst>
              <a:gd name="adj" fmla="val 35000"/>
            </a:avLst>
          </a:prstGeom>
          <a:solidFill>
            <a:srgbClr val="FF6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559552"/>
            <a:ext cx="11094415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BOG 2018"/>
              </a:rPr>
              <a:t>ერთი ფაილი (docker-compose.yml) → ერთი ბრძანება → მთელი stack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6355080"/>
            <a:ext cx="11094415" cy="365760"/>
          </a:xfrm>
          <a:prstGeom prst="roundRect">
            <a:avLst>
              <a:gd name="adj" fmla="val 5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400800"/>
            <a:ext cx="7315200" cy="301621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000" b="0" dirty="0">
                <a:solidFill>
                  <a:srgbClr val="555555"/>
                </a:solidFill>
                <a:latin typeface="BOG 2018"/>
              </a:rPr>
              <a:t>Docker &amp; Dev Containers  ·  slide 1</a:t>
            </a:r>
            <a:r>
              <a:rPr lang="en-US" sz="1000" b="0" dirty="0">
                <a:solidFill>
                  <a:srgbClr val="555555"/>
                </a:solidFill>
                <a:latin typeface="BOG 2018"/>
              </a:rPr>
              <a:t>3</a:t>
            </a:r>
            <a:r>
              <a:rPr sz="1000" b="0" dirty="0">
                <a:solidFill>
                  <a:srgbClr val="555555"/>
                </a:solidFill>
                <a:latin typeface="BOG 2018"/>
              </a:rPr>
              <a:t> / 2</a:t>
            </a:r>
            <a:r>
              <a:rPr lang="en-US" sz="1000" b="0" dirty="0">
                <a:solidFill>
                  <a:srgbClr val="555555"/>
                </a:solidFill>
                <a:latin typeface="BOG 2018"/>
              </a:rPr>
              <a:t>0</a:t>
            </a:r>
            <a:endParaRPr sz="1000" b="0" dirty="0">
              <a:solidFill>
                <a:srgbClr val="555555"/>
              </a:solidFill>
              <a:latin typeface="BOG 2018"/>
            </a:endParaRPr>
          </a:p>
        </p:txBody>
      </p:sp>
      <p:sp>
        <p:nvSpPr>
          <p:cNvPr id="9" name="Oval 8"/>
          <p:cNvSpPr/>
          <p:nvPr/>
        </p:nvSpPr>
        <p:spPr>
          <a:xfrm>
            <a:off x="11368735" y="6428232"/>
            <a:ext cx="128016" cy="128016"/>
          </a:xfrm>
          <a:prstGeom prst="ellipse">
            <a:avLst/>
          </a:prstGeom>
          <a:solidFill>
            <a:srgbClr val="FF6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777240"/>
          </a:xfrm>
          <a:prstGeom prst="roundRect">
            <a:avLst>
              <a:gd name="adj" fmla="val 35000"/>
            </a:avLst>
          </a:prstGeom>
          <a:solidFill>
            <a:srgbClr val="FF6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91440" rtlCol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BOG 2018"/>
              </a:rPr>
              <a:t>Dev Containers — რა არის და რატომ?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18607" cy="3200400"/>
          </a:xfrm>
          <a:prstGeom prst="roundRect">
            <a:avLst>
              <a:gd name="adj" fmla="val 1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318607" cy="36576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800" b="1">
                <a:solidFill>
                  <a:srgbClr val="555555"/>
                </a:solidFill>
                <a:latin typeface="BOG 2018"/>
              </a:rPr>
              <a:t>Dev Container-ის გარეშე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769967" cy="1301895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500" b="0" dirty="0">
                <a:solidFill>
                  <a:srgbClr val="1A1A1A"/>
                </a:solidFill>
                <a:latin typeface="BOG 2018"/>
              </a:rPr>
              <a:t>· Python 3.9 </a:t>
            </a:r>
            <a:r>
              <a:rPr sz="1500" b="0" dirty="0" err="1">
                <a:solidFill>
                  <a:srgbClr val="1A1A1A"/>
                </a:solidFill>
                <a:latin typeface="BOG 2018"/>
              </a:rPr>
              <a:t>მაქვს</a:t>
            </a:r>
            <a:r>
              <a:rPr sz="1500" b="0" dirty="0">
                <a:solidFill>
                  <a:srgbClr val="1A1A1A"/>
                </a:solidFill>
                <a:latin typeface="BOG 2018"/>
              </a:rPr>
              <a:t>, </a:t>
            </a:r>
            <a:r>
              <a:rPr sz="1500" b="0" dirty="0" err="1">
                <a:solidFill>
                  <a:srgbClr val="1A1A1A"/>
                </a:solidFill>
                <a:latin typeface="BOG 2018"/>
              </a:rPr>
              <a:t>შენ</a:t>
            </a:r>
            <a:r>
              <a:rPr sz="1500" b="0" dirty="0">
                <a:solidFill>
                  <a:srgbClr val="1A1A1A"/>
                </a:solidFill>
                <a:latin typeface="BOG 2018"/>
              </a:rPr>
              <a:t> 3.12</a:t>
            </a:r>
          </a:p>
          <a:p>
            <a:pPr algn="l"/>
            <a:r>
              <a:rPr sz="1500" b="0" dirty="0">
                <a:solidFill>
                  <a:srgbClr val="1A1A1A"/>
                </a:solidFill>
                <a:latin typeface="BOG 2018"/>
              </a:rPr>
              <a:t>· </a:t>
            </a:r>
            <a:r>
              <a:rPr sz="1500" b="0" dirty="0" err="1">
                <a:solidFill>
                  <a:srgbClr val="1A1A1A"/>
                </a:solidFill>
                <a:latin typeface="BOG 2018"/>
              </a:rPr>
              <a:t>მე</a:t>
            </a:r>
            <a:r>
              <a:rPr sz="1500" b="0" dirty="0">
                <a:solidFill>
                  <a:srgbClr val="1A1A1A"/>
                </a:solidFill>
                <a:latin typeface="BOG 2018"/>
              </a:rPr>
              <a:t> pip-</a:t>
            </a:r>
            <a:r>
              <a:rPr sz="1500" b="0" dirty="0" err="1">
                <a:solidFill>
                  <a:srgbClr val="1A1A1A"/>
                </a:solidFill>
                <a:latin typeface="BOG 2018"/>
              </a:rPr>
              <a:t>ით</a:t>
            </a:r>
            <a:r>
              <a:rPr sz="1500" b="0" dirty="0">
                <a:solidFill>
                  <a:srgbClr val="1A1A1A"/>
                </a:solidFill>
                <a:latin typeface="BOG 2018"/>
              </a:rPr>
              <a:t>, </a:t>
            </a:r>
            <a:r>
              <a:rPr sz="1500" b="0" dirty="0" err="1">
                <a:solidFill>
                  <a:srgbClr val="1A1A1A"/>
                </a:solidFill>
                <a:latin typeface="BOG 2018"/>
              </a:rPr>
              <a:t>შენ</a:t>
            </a:r>
            <a:r>
              <a:rPr sz="1500" b="0" dirty="0">
                <a:solidFill>
                  <a:srgbClr val="1A1A1A"/>
                </a:solidFill>
                <a:latin typeface="BOG 2018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BOG 2018"/>
              </a:rPr>
              <a:t>conda-ით</a:t>
            </a:r>
            <a:endParaRPr sz="1500" b="0" dirty="0">
              <a:solidFill>
                <a:srgbClr val="1A1A1A"/>
              </a:solidFill>
              <a:latin typeface="BOG 2018"/>
            </a:endParaRPr>
          </a:p>
          <a:p>
            <a:pPr algn="l"/>
            <a:r>
              <a:rPr sz="1500" b="0" dirty="0">
                <a:solidFill>
                  <a:srgbClr val="1A1A1A"/>
                </a:solidFill>
                <a:latin typeface="BOG 2018"/>
              </a:rPr>
              <a:t>· Windows-</a:t>
            </a:r>
            <a:r>
              <a:rPr sz="1500" b="0" dirty="0" err="1">
                <a:solidFill>
                  <a:srgbClr val="1A1A1A"/>
                </a:solidFill>
                <a:latin typeface="BOG 2018"/>
              </a:rPr>
              <a:t>ზე</a:t>
            </a:r>
            <a:r>
              <a:rPr sz="1500" b="0" dirty="0">
                <a:solidFill>
                  <a:srgbClr val="1A1A1A"/>
                </a:solidFill>
                <a:latin typeface="BOG 2018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BOG 2018"/>
              </a:rPr>
              <a:t>მუშაობს</a:t>
            </a:r>
            <a:r>
              <a:rPr sz="1500" b="0" dirty="0">
                <a:solidFill>
                  <a:srgbClr val="1A1A1A"/>
                </a:solidFill>
                <a:latin typeface="BOG 2018"/>
              </a:rPr>
              <a:t>, Linux-</a:t>
            </a:r>
            <a:r>
              <a:rPr sz="1500" b="0" dirty="0" err="1">
                <a:solidFill>
                  <a:srgbClr val="1A1A1A"/>
                </a:solidFill>
                <a:latin typeface="BOG 2018"/>
              </a:rPr>
              <a:t>ზე</a:t>
            </a:r>
            <a:r>
              <a:rPr sz="1500" b="0" dirty="0">
                <a:solidFill>
                  <a:srgbClr val="1A1A1A"/>
                </a:solidFill>
                <a:latin typeface="BOG 2018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BOG 2018"/>
              </a:rPr>
              <a:t>არა</a:t>
            </a:r>
            <a:endParaRPr sz="1500" b="0" dirty="0">
              <a:solidFill>
                <a:srgbClr val="1A1A1A"/>
              </a:solidFill>
              <a:latin typeface="BOG 2018"/>
            </a:endParaRPr>
          </a:p>
          <a:p>
            <a:pPr algn="l"/>
            <a:r>
              <a:rPr sz="1500" b="0" dirty="0">
                <a:solidFill>
                  <a:srgbClr val="1A1A1A"/>
                </a:solidFill>
                <a:latin typeface="BOG 2018"/>
              </a:rPr>
              <a:t>· </a:t>
            </a:r>
            <a:r>
              <a:rPr sz="1500" b="0" dirty="0" err="1">
                <a:solidFill>
                  <a:srgbClr val="1A1A1A"/>
                </a:solidFill>
                <a:latin typeface="BOG 2018"/>
              </a:rPr>
              <a:t>რომელი</a:t>
            </a:r>
            <a:r>
              <a:rPr sz="1500" b="0" dirty="0">
                <a:solidFill>
                  <a:srgbClr val="1A1A1A"/>
                </a:solidFill>
                <a:latin typeface="BOG 2018"/>
              </a:rPr>
              <a:t> extension </a:t>
            </a:r>
            <a:r>
              <a:rPr sz="1500" b="0" dirty="0" err="1">
                <a:solidFill>
                  <a:srgbClr val="1A1A1A"/>
                </a:solidFill>
                <a:latin typeface="BOG 2018"/>
              </a:rPr>
              <a:t>გჭირდება</a:t>
            </a:r>
            <a:r>
              <a:rPr sz="1500" b="0" dirty="0">
                <a:solidFill>
                  <a:srgbClr val="1A1A1A"/>
                </a:solidFill>
                <a:latin typeface="BOG 2018"/>
              </a:rPr>
              <a:t>?</a:t>
            </a:r>
          </a:p>
          <a:p>
            <a:pPr algn="l"/>
            <a:r>
              <a:rPr sz="1500" b="0" dirty="0">
                <a:solidFill>
                  <a:srgbClr val="1A1A1A"/>
                </a:solidFill>
                <a:latin typeface="BOG 2018"/>
              </a:rPr>
              <a:t>· env variable-</a:t>
            </a:r>
            <a:r>
              <a:rPr sz="1500" b="0" dirty="0" err="1">
                <a:solidFill>
                  <a:srgbClr val="1A1A1A"/>
                </a:solidFill>
                <a:latin typeface="BOG 2018"/>
              </a:rPr>
              <a:t>ები</a:t>
            </a:r>
            <a:r>
              <a:rPr sz="1500" b="0" dirty="0">
                <a:solidFill>
                  <a:srgbClr val="1A1A1A"/>
                </a:solidFill>
                <a:latin typeface="BOG 2018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BOG 2018"/>
              </a:rPr>
              <a:t>დაყენებული</a:t>
            </a:r>
            <a:r>
              <a:rPr sz="1500" b="0" dirty="0">
                <a:solidFill>
                  <a:srgbClr val="1A1A1A"/>
                </a:solidFill>
                <a:latin typeface="BOG 2018"/>
              </a:rPr>
              <a:t> </a:t>
            </a:r>
            <a:r>
              <a:rPr sz="1500" b="0" dirty="0" err="1">
                <a:solidFill>
                  <a:srgbClr val="1A1A1A"/>
                </a:solidFill>
                <a:latin typeface="BOG 2018"/>
              </a:rPr>
              <a:t>გაქვს</a:t>
            </a:r>
            <a:r>
              <a:rPr sz="1500" b="0" dirty="0">
                <a:solidFill>
                  <a:srgbClr val="1A1A1A"/>
                </a:solidFill>
                <a:latin typeface="BOG 2018"/>
              </a:rPr>
              <a:t>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463040"/>
            <a:ext cx="5318607" cy="3200400"/>
          </a:xfrm>
          <a:prstGeom prst="roundRect">
            <a:avLst>
              <a:gd name="adj" fmla="val 10000"/>
            </a:avLst>
          </a:prstGeom>
          <a:solidFill>
            <a:srgbClr val="FF6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24447" y="1645920"/>
            <a:ext cx="5318607" cy="36576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OG 2018"/>
              </a:rPr>
              <a:t>Dev Container-ით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194560"/>
            <a:ext cx="4769967" cy="22860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BOG 2018"/>
              </a:rPr>
              <a:t>· ყველას ერთი Python ვერსია ✓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BOG 2018"/>
              </a:rPr>
              <a:t>· ყველას ერთი package manager ✓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BOG 2018"/>
              </a:rPr>
              <a:t>· ყველა Linux container-ში ✓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BOG 2018"/>
              </a:rPr>
              <a:t>· Extension-ები ავტომატურად ✓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BOG 2018"/>
              </a:rPr>
              <a:t>· ყველაფერი config-ში 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937760"/>
            <a:ext cx="11094415" cy="640080"/>
          </a:xfrm>
          <a:prstGeom prst="roundRect">
            <a:avLst>
              <a:gd name="adj" fmla="val 35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5029200"/>
            <a:ext cx="11094415" cy="393954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600" b="1" dirty="0">
                <a:solidFill>
                  <a:srgbClr val="FF6022"/>
                </a:solidFill>
                <a:latin typeface="BOG 2018"/>
              </a:rPr>
              <a:t>Docker + VS Code </a:t>
            </a:r>
            <a:r>
              <a:rPr sz="1600" b="1" dirty="0" err="1">
                <a:solidFill>
                  <a:srgbClr val="FF6022"/>
                </a:solidFill>
                <a:latin typeface="BOG 2018"/>
              </a:rPr>
              <a:t>ინტეგრაცია</a:t>
            </a:r>
            <a:r>
              <a:rPr sz="1600" b="1" dirty="0">
                <a:solidFill>
                  <a:srgbClr val="FF6022"/>
                </a:solidFill>
                <a:latin typeface="BOG 2018"/>
              </a:rPr>
              <a:t> = </a:t>
            </a:r>
            <a:r>
              <a:rPr sz="1600" b="1" dirty="0" err="1">
                <a:solidFill>
                  <a:srgbClr val="FF6022"/>
                </a:solidFill>
                <a:latin typeface="BOG 2018"/>
              </a:rPr>
              <a:t>ერთი</a:t>
            </a:r>
            <a:r>
              <a:rPr sz="1600" b="1" dirty="0">
                <a:solidFill>
                  <a:srgbClr val="FF6022"/>
                </a:solidFill>
                <a:latin typeface="BOG 2018"/>
              </a:rPr>
              <a:t> </a:t>
            </a:r>
            <a:r>
              <a:rPr sz="1600" b="1" dirty="0" err="1">
                <a:solidFill>
                  <a:srgbClr val="FF6022"/>
                </a:solidFill>
                <a:latin typeface="BOG 2018"/>
              </a:rPr>
              <a:t>იდენტური</a:t>
            </a:r>
            <a:r>
              <a:rPr sz="1600" b="1" dirty="0">
                <a:solidFill>
                  <a:srgbClr val="FF6022"/>
                </a:solidFill>
                <a:latin typeface="BOG 2018"/>
              </a:rPr>
              <a:t> </a:t>
            </a:r>
            <a:r>
              <a:rPr sz="1600" b="1" dirty="0" err="1">
                <a:solidFill>
                  <a:srgbClr val="FF6022"/>
                </a:solidFill>
                <a:latin typeface="BOG 2018"/>
              </a:rPr>
              <a:t>გარემო</a:t>
            </a:r>
            <a:r>
              <a:rPr sz="1600" b="1" dirty="0">
                <a:solidFill>
                  <a:srgbClr val="FF6022"/>
                </a:solidFill>
                <a:latin typeface="BOG 2018"/>
              </a:rPr>
              <a:t> </a:t>
            </a:r>
            <a:r>
              <a:rPr sz="1600" b="1" dirty="0" err="1">
                <a:solidFill>
                  <a:srgbClr val="FF6022"/>
                </a:solidFill>
                <a:latin typeface="BOG 2018"/>
              </a:rPr>
              <a:t>ყველასთვის</a:t>
            </a:r>
            <a:endParaRPr sz="1600" b="1" dirty="0">
              <a:solidFill>
                <a:srgbClr val="FF6022"/>
              </a:solidFill>
              <a:latin typeface="BOG 2018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6355080"/>
            <a:ext cx="11094415" cy="365760"/>
          </a:xfrm>
          <a:prstGeom prst="roundRect">
            <a:avLst>
              <a:gd name="adj" fmla="val 5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6400800"/>
            <a:ext cx="7315200" cy="301621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000" b="0" dirty="0">
                <a:solidFill>
                  <a:srgbClr val="555555"/>
                </a:solidFill>
                <a:latin typeface="BOG 2018"/>
              </a:rPr>
              <a:t>Docker &amp; Dev Containers  ·  slide 1</a:t>
            </a:r>
            <a:r>
              <a:rPr lang="en-US" sz="1000" b="0" dirty="0">
                <a:solidFill>
                  <a:srgbClr val="555555"/>
                </a:solidFill>
                <a:latin typeface="BOG 2018"/>
              </a:rPr>
              <a:t>4</a:t>
            </a:r>
            <a:r>
              <a:rPr sz="1000" b="0" dirty="0">
                <a:solidFill>
                  <a:srgbClr val="555555"/>
                </a:solidFill>
                <a:latin typeface="BOG 2018"/>
              </a:rPr>
              <a:t> / 2</a:t>
            </a:r>
            <a:r>
              <a:rPr lang="en-US" sz="1000" b="0" dirty="0">
                <a:solidFill>
                  <a:srgbClr val="555555"/>
                </a:solidFill>
                <a:latin typeface="BOG 2018"/>
              </a:rPr>
              <a:t>0</a:t>
            </a:r>
            <a:endParaRPr sz="1000" b="0" dirty="0">
              <a:solidFill>
                <a:srgbClr val="555555"/>
              </a:solidFill>
              <a:latin typeface="BOG 2018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1368735" y="6428232"/>
            <a:ext cx="128016" cy="128016"/>
          </a:xfrm>
          <a:prstGeom prst="ellipse">
            <a:avLst/>
          </a:prstGeom>
          <a:solidFill>
            <a:srgbClr val="FF6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777240"/>
          </a:xfrm>
          <a:prstGeom prst="roundRect">
            <a:avLst>
              <a:gd name="adj" fmla="val 35000"/>
            </a:avLst>
          </a:prstGeom>
          <a:solidFill>
            <a:srgbClr val="FF6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91440" rtlCol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BOG 2018"/>
              </a:rPr>
              <a:t>devcontainer.json — კონფიგურაცია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7132320" cy="475488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182880" bIns="137160" rtlCol="0" anchor="ctr"/>
          <a:lstStyle/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{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  "name": "Python Project",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  "build": { "dockerfile": "Dockerfile" },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  "features": {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    "ghcr.io/devcontainers/features/git:1": {}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  },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  "customizations": {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    "vscode": {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      "extensions": [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        "ms-python.python",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        "ms-toolsai.jupyter",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        "charliermarsh.ruff"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      ]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    }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  },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  "forwardPorts": [8888],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  "postCreateCommand": "pip install -r requirements.txt",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  "remoteUser": "vscode"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417320"/>
            <a:ext cx="3779215" cy="685800"/>
          </a:xfrm>
          <a:prstGeom prst="roundRect">
            <a:avLst>
              <a:gd name="adj" fmla="val 12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80" y="1463040"/>
            <a:ext cx="3596335" cy="27432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200" b="1">
                <a:solidFill>
                  <a:srgbClr val="FF6022"/>
                </a:solidFill>
                <a:latin typeface="JetBrains Mono"/>
              </a:rPr>
              <a:t>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0" y="1764792"/>
            <a:ext cx="3596335" cy="27432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BOG 2018"/>
              </a:rPr>
              <a:t>Dockerfile → image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2167128"/>
            <a:ext cx="3779215" cy="685800"/>
          </a:xfrm>
          <a:prstGeom prst="roundRect">
            <a:avLst>
              <a:gd name="adj" fmla="val 12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0" y="2212848"/>
            <a:ext cx="3596335" cy="27432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200" b="1">
                <a:solidFill>
                  <a:srgbClr val="FF6022"/>
                </a:solidFill>
                <a:latin typeface="JetBrains Mono"/>
              </a:rPr>
              <a:t>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0" y="2514600"/>
            <a:ext cx="3596335" cy="27432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BOG 2018"/>
              </a:rPr>
              <a:t>Git, Node, Docker-in-Docker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916936"/>
            <a:ext cx="3779215" cy="685800"/>
          </a:xfrm>
          <a:prstGeom prst="roundRect">
            <a:avLst>
              <a:gd name="adj" fmla="val 12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80" y="2962656"/>
            <a:ext cx="3596335" cy="27432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200" b="1">
                <a:solidFill>
                  <a:srgbClr val="FF6022"/>
                </a:solidFill>
                <a:latin typeface="JetBrains Mono"/>
              </a:rPr>
              <a:t>extensions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0" y="3264408"/>
            <a:ext cx="3596335" cy="27432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BOG 2018"/>
              </a:rPr>
              <a:t>VS Code plugins (auto)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3666744"/>
            <a:ext cx="3779215" cy="685800"/>
          </a:xfrm>
          <a:prstGeom prst="roundRect">
            <a:avLst>
              <a:gd name="adj" fmla="val 12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55280" y="3712464"/>
            <a:ext cx="3596335" cy="27432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200" b="1">
                <a:solidFill>
                  <a:srgbClr val="FF6022"/>
                </a:solidFill>
                <a:latin typeface="JetBrains Mono"/>
              </a:rPr>
              <a:t>forwardPorts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80" y="4014216"/>
            <a:ext cx="3596335" cy="27432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BOG 2018"/>
              </a:rPr>
              <a:t>Container → Host ports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4416552"/>
            <a:ext cx="3779215" cy="685800"/>
          </a:xfrm>
          <a:prstGeom prst="roundRect">
            <a:avLst>
              <a:gd name="adj" fmla="val 12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55280" y="4462272"/>
            <a:ext cx="3596335" cy="27432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200" b="1">
                <a:solidFill>
                  <a:srgbClr val="FF6022"/>
                </a:solidFill>
                <a:latin typeface="JetBrains Mono"/>
              </a:rPr>
              <a:t>postCreate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0" y="4764024"/>
            <a:ext cx="3596335" cy="27432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BOG 2018"/>
              </a:rPr>
              <a:t>ერთხელ: deps install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5166360"/>
            <a:ext cx="3779215" cy="685800"/>
          </a:xfrm>
          <a:prstGeom prst="roundRect">
            <a:avLst>
              <a:gd name="adj" fmla="val 12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80" y="5212080"/>
            <a:ext cx="3596335" cy="27432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200" b="1">
                <a:solidFill>
                  <a:srgbClr val="FF6022"/>
                </a:solidFill>
                <a:latin typeface="JetBrains Mono"/>
              </a:rPr>
              <a:t>remoteUser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0" y="5513832"/>
            <a:ext cx="3596335" cy="27432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BOG 2018"/>
              </a:rPr>
              <a:t>non-root (უსაფრთხო)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6355080"/>
            <a:ext cx="11094415" cy="365760"/>
          </a:xfrm>
          <a:prstGeom prst="roundRect">
            <a:avLst>
              <a:gd name="adj" fmla="val 5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6400800"/>
            <a:ext cx="7315200" cy="301621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000" b="0" dirty="0">
                <a:solidFill>
                  <a:srgbClr val="555555"/>
                </a:solidFill>
                <a:latin typeface="BOG 2018"/>
              </a:rPr>
              <a:t>Docker &amp; Dev Containers  ·  slide 1</a:t>
            </a:r>
            <a:r>
              <a:rPr lang="en-US" sz="1000" b="0" dirty="0">
                <a:solidFill>
                  <a:srgbClr val="555555"/>
                </a:solidFill>
                <a:latin typeface="BOG 2018"/>
              </a:rPr>
              <a:t>5</a:t>
            </a:r>
            <a:r>
              <a:rPr sz="1000" b="0" dirty="0">
                <a:solidFill>
                  <a:srgbClr val="555555"/>
                </a:solidFill>
                <a:latin typeface="BOG 2018"/>
              </a:rPr>
              <a:t> / 2</a:t>
            </a:r>
            <a:r>
              <a:rPr lang="en-US" sz="1000" b="0" dirty="0">
                <a:solidFill>
                  <a:srgbClr val="555555"/>
                </a:solidFill>
                <a:latin typeface="BOG 2018"/>
              </a:rPr>
              <a:t>0</a:t>
            </a:r>
            <a:endParaRPr sz="1000" b="0" dirty="0">
              <a:solidFill>
                <a:srgbClr val="555555"/>
              </a:solidFill>
              <a:latin typeface="BOG 2018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11368735" y="6428232"/>
            <a:ext cx="128016" cy="128016"/>
          </a:xfrm>
          <a:prstGeom prst="ellipse">
            <a:avLst/>
          </a:prstGeom>
          <a:solidFill>
            <a:srgbClr val="FF6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777240"/>
          </a:xfrm>
          <a:prstGeom prst="roundRect">
            <a:avLst>
              <a:gd name="adj" fmla="val 35000"/>
            </a:avLst>
          </a:prstGeom>
          <a:solidFill>
            <a:srgbClr val="FF6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91440" rtlCol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BOG 2018"/>
              </a:rPr>
              <a:t>VS Code Workflow — Reopen in Container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713232"/>
          </a:xfrm>
          <a:prstGeom prst="roundRect">
            <a:avLst>
              <a:gd name="adj" fmla="val 3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499616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6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563624"/>
            <a:ext cx="548640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OG 2018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554480"/>
            <a:ext cx="4114800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BOG 2018"/>
              </a:rPr>
              <a:t>File → Open Folder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581912"/>
            <a:ext cx="5486400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BOG 2018"/>
              </a:rPr>
              <a:t>პროექტის გახსნა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40280"/>
            <a:ext cx="11094415" cy="713232"/>
          </a:xfrm>
          <a:prstGeom prst="roundRect">
            <a:avLst>
              <a:gd name="adj" fmla="val 3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85800" y="2322576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6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386584"/>
            <a:ext cx="548640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OG 2018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377440"/>
            <a:ext cx="4114800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BOG 2018"/>
              </a:rPr>
              <a:t>Reopen in Container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404872"/>
            <a:ext cx="5486400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BOG 2018"/>
              </a:rPr>
              <a:t>VS Code ხედავს .devcontainer/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063240"/>
            <a:ext cx="11094415" cy="713232"/>
          </a:xfrm>
          <a:prstGeom prst="roundRect">
            <a:avLst>
              <a:gd name="adj" fmla="val 3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85800" y="3145536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6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209544"/>
            <a:ext cx="548640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OG 2018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200400"/>
            <a:ext cx="4114800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BOG 2018"/>
              </a:rPr>
              <a:t>Image Build / Pull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227832"/>
            <a:ext cx="5486400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BOG 2018"/>
              </a:rPr>
              <a:t>პირველად 2–5 წუთი, შემდეგ — წამები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86200"/>
            <a:ext cx="11094415" cy="713232"/>
          </a:xfrm>
          <a:prstGeom prst="roundRect">
            <a:avLst>
              <a:gd name="adj" fmla="val 3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5800" y="3968496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6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4032504"/>
            <a:ext cx="548640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OG 2018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023360"/>
            <a:ext cx="4114800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BOG 2018"/>
              </a:rPr>
              <a:t>Container Start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050792"/>
            <a:ext cx="5486400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BOG 2018"/>
              </a:rPr>
              <a:t>Mount, Port Forward, Extensions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709160"/>
            <a:ext cx="11094415" cy="713232"/>
          </a:xfrm>
          <a:prstGeom prst="roundRect">
            <a:avLst>
              <a:gd name="adj" fmla="val 3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85800" y="4791456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6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4855464"/>
            <a:ext cx="548640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OG 2018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846320"/>
            <a:ext cx="4114800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BOG 2018"/>
              </a:rPr>
              <a:t>postCreateCommand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873752"/>
            <a:ext cx="5486400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BOG 2018"/>
              </a:rPr>
              <a:t>pip install / uv sync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5532120"/>
            <a:ext cx="11094415" cy="713232"/>
          </a:xfrm>
          <a:prstGeom prst="roundRect">
            <a:avLst>
              <a:gd name="adj" fmla="val 3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85800" y="5614416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FF6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5678424"/>
            <a:ext cx="548640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BOG 2018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5669280"/>
            <a:ext cx="4114800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BOG 2018"/>
              </a:rPr>
              <a:t>მზადაა!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5696712"/>
            <a:ext cx="5486400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BOG 2018"/>
              </a:rPr>
              <a:t>ტერმინალი = Linux bash container-ში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6355080"/>
            <a:ext cx="11094415" cy="365760"/>
          </a:xfrm>
          <a:prstGeom prst="roundRect">
            <a:avLst>
              <a:gd name="adj" fmla="val 5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5800" y="6400800"/>
            <a:ext cx="7315200" cy="301621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000" b="0" dirty="0">
                <a:solidFill>
                  <a:srgbClr val="555555"/>
                </a:solidFill>
                <a:latin typeface="BOG 2018"/>
              </a:rPr>
              <a:t>Docker &amp; Dev Containers  ·  slide 1</a:t>
            </a:r>
            <a:r>
              <a:rPr lang="en-US" sz="1000" b="0" dirty="0">
                <a:solidFill>
                  <a:srgbClr val="555555"/>
                </a:solidFill>
                <a:latin typeface="BOG 2018"/>
              </a:rPr>
              <a:t>6</a:t>
            </a:r>
            <a:r>
              <a:rPr sz="1000" b="0" dirty="0">
                <a:solidFill>
                  <a:srgbClr val="555555"/>
                </a:solidFill>
                <a:latin typeface="BOG 2018"/>
              </a:rPr>
              <a:t> / 2</a:t>
            </a:r>
            <a:r>
              <a:rPr lang="en-US" sz="1000" dirty="0">
                <a:solidFill>
                  <a:srgbClr val="555555"/>
                </a:solidFill>
                <a:latin typeface="BOG 2018"/>
              </a:rPr>
              <a:t>0</a:t>
            </a:r>
            <a:endParaRPr sz="1000" b="0" dirty="0">
              <a:solidFill>
                <a:srgbClr val="555555"/>
              </a:solidFill>
              <a:latin typeface="BOG 2018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11368735" y="6428232"/>
            <a:ext cx="128016" cy="128016"/>
          </a:xfrm>
          <a:prstGeom prst="ellipse">
            <a:avLst/>
          </a:prstGeom>
          <a:solidFill>
            <a:srgbClr val="FF6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777240"/>
          </a:xfrm>
          <a:prstGeom prst="roundRect">
            <a:avLst>
              <a:gd name="adj" fmla="val 35000"/>
            </a:avLst>
          </a:prstGeom>
          <a:solidFill>
            <a:srgbClr val="FF6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91440" rtlCol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BOG 2018"/>
              </a:rPr>
              <a:t>პრაქტიკა: Jupyter Notebook — Dockerfile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7772400" cy="475488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182880" bIns="137160" rtlCol="0" anchor="ctr"/>
          <a:lstStyle/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FROM python:3.12-slim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ENV PYTHONUNBUFFERED=1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WORKDIR /app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 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RUN apt-get update &amp;&amp; apt-get install -y \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    gcc python3-dev &amp;&amp; \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    rm -rf /var/lib/apt/lists/*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 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COPY requirements.txt .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RUN pip install --no-cache-dir -r requirements.txt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 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RUN mkdir -p /app/notebooks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EXPOSE 8888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 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CMD ["jupyter", "notebook", \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     "--ip=0.0.0.0", "--port=8888", \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     "--no-browser", "--allow-root", \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     "--NotebookApp.token=''"]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03920" y="1417320"/>
            <a:ext cx="3139135" cy="2560320"/>
          </a:xfrm>
          <a:prstGeom prst="roundRect">
            <a:avLst>
              <a:gd name="adj" fmla="val 1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41080" y="1554480"/>
            <a:ext cx="2864815" cy="32004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300" b="1">
                <a:solidFill>
                  <a:srgbClr val="FF6022"/>
                </a:solidFill>
                <a:latin typeface="JetBrains Mono"/>
              </a:rPr>
              <a:t>requirements.txt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41080" y="1920240"/>
            <a:ext cx="2864815" cy="18288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JetBrains Mono"/>
              </a:rPr>
              <a:t>jupyter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JetBrains Mono"/>
              </a:rPr>
              <a:t>notebook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JetBrains Mono"/>
              </a:rPr>
              <a:t>ipykernel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JetBrains Mono"/>
              </a:rPr>
              <a:t>numpy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JetBrains Mono"/>
              </a:rPr>
              <a:t>pandas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JetBrains Mono"/>
              </a:rPr>
              <a:t>matplotlib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4160520"/>
            <a:ext cx="3139135" cy="2011680"/>
          </a:xfrm>
          <a:prstGeom prst="roundRect">
            <a:avLst>
              <a:gd name="adj" fmla="val 10000"/>
            </a:avLst>
          </a:prstGeom>
          <a:solidFill>
            <a:srgbClr val="FF6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41080" y="4297680"/>
            <a:ext cx="2864815" cy="32004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BOG 2018"/>
              </a:rPr>
              <a:t>Build &amp;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4709160"/>
            <a:ext cx="2864815" cy="13716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JetBrains Mono"/>
              </a:rPr>
              <a:t>docker build -t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JetBrains Mono"/>
              </a:rPr>
              <a:t>  jupyter-py .</a:t>
            </a:r>
          </a:p>
          <a:p>
            <a:pPr algn="l"/>
            <a:endParaRPr sz="1100" b="0">
              <a:solidFill>
                <a:srgbClr val="FFFFFF"/>
              </a:solidFill>
              <a:latin typeface="JetBrains Mono"/>
            </a:endParaRPr>
          </a:p>
          <a:p>
            <a:pPr algn="l"/>
            <a:r>
              <a:rPr sz="1100" b="0">
                <a:solidFill>
                  <a:srgbClr val="FFFFFF"/>
                </a:solidFill>
                <a:latin typeface="JetBrains Mono"/>
              </a:rPr>
              <a:t>docker run -d \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JetBrains Mono"/>
              </a:rPr>
              <a:t>  -p 8888:8888 \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JetBrains Mono"/>
              </a:rPr>
              <a:t>  jupyter-py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6355080"/>
            <a:ext cx="11094415" cy="365760"/>
          </a:xfrm>
          <a:prstGeom prst="roundRect">
            <a:avLst>
              <a:gd name="adj" fmla="val 5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6400800"/>
            <a:ext cx="7315200" cy="301621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000" b="0" dirty="0">
                <a:solidFill>
                  <a:srgbClr val="555555"/>
                </a:solidFill>
                <a:latin typeface="BOG 2018"/>
              </a:rPr>
              <a:t>Docker &amp; Dev Containers  ·  slide </a:t>
            </a:r>
            <a:r>
              <a:rPr lang="en-US" sz="1000" b="0" dirty="0">
                <a:solidFill>
                  <a:srgbClr val="555555"/>
                </a:solidFill>
                <a:latin typeface="BOG 2018"/>
              </a:rPr>
              <a:t>17</a:t>
            </a:r>
            <a:r>
              <a:rPr sz="1000" b="0" dirty="0">
                <a:solidFill>
                  <a:srgbClr val="555555"/>
                </a:solidFill>
                <a:latin typeface="BOG 2018"/>
              </a:rPr>
              <a:t> / 2</a:t>
            </a:r>
            <a:r>
              <a:rPr lang="en-US" sz="1000" b="0" dirty="0">
                <a:solidFill>
                  <a:srgbClr val="555555"/>
                </a:solidFill>
                <a:latin typeface="BOG 2018"/>
              </a:rPr>
              <a:t>0</a:t>
            </a:r>
            <a:endParaRPr sz="1000" b="0" dirty="0">
              <a:solidFill>
                <a:srgbClr val="555555"/>
              </a:solidFill>
              <a:latin typeface="BOG 2018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11368735" y="6428232"/>
            <a:ext cx="128016" cy="128016"/>
          </a:xfrm>
          <a:prstGeom prst="ellipse">
            <a:avLst/>
          </a:prstGeom>
          <a:solidFill>
            <a:srgbClr val="FF6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777240"/>
          </a:xfrm>
          <a:prstGeom prst="roundRect">
            <a:avLst>
              <a:gd name="adj" fmla="val 35000"/>
            </a:avLst>
          </a:prstGeom>
          <a:solidFill>
            <a:srgbClr val="FF6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91440" rtlCol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BOG 2018"/>
              </a:rPr>
              <a:t>პრაქტიკა: Jupyter — Dev Container-ით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7132320" cy="475488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182880" bIns="137160" rtlCol="0" anchor="ctr"/>
          <a:lstStyle/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{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  "name": "Jupyter Environment",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  "build": {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    "dockerfile": "Dockerfile",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    "context": ".."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  },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  "customizations": {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    "vscode": {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      "extensions": [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        "ms-python.python",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        "ms-toolsai.jupyter",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        "charliermarsh.ruff"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      ]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    }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  },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  "forwardPorts": [8888],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  "postCreateCommand": "pip install -r requirements.txt",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  "remoteUser": "vscode"</a:t>
            </a:r>
          </a:p>
          <a:p>
            <a:pPr algn="l"/>
            <a:r>
              <a:rPr sz="1400">
                <a:solidFill>
                  <a:srgbClr val="F5F5F5"/>
                </a:solidFill>
                <a:latin typeface="JetBrains Mono"/>
              </a:rPr>
              <a:t>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417320"/>
            <a:ext cx="3779215" cy="4754880"/>
          </a:xfrm>
          <a:prstGeom prst="roundRect">
            <a:avLst>
              <a:gd name="adj" fmla="val 1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01000" y="1600200"/>
            <a:ext cx="3504895" cy="36576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800" b="1">
                <a:solidFill>
                  <a:srgbClr val="FF6022"/>
                </a:solidFill>
                <a:latin typeface="BOG 2018"/>
              </a:rPr>
              <a:t>Workflow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2103120"/>
            <a:ext cx="3413455" cy="59436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BOG 2018"/>
              </a:rPr>
              <a:t>1. Reopen in Container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651760"/>
            <a:ext cx="3413455" cy="59436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BOG 2018"/>
              </a:rPr>
              <a:t>2. დაელოდეთ build-ს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3200400"/>
            <a:ext cx="3413455" cy="59436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BOG 2018"/>
              </a:rPr>
              <a:t>3. Ctrl+Shift+P →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BOG 2018"/>
              </a:rPr>
              <a:t>   New Jupyter Notebook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749040"/>
            <a:ext cx="3413455" cy="59436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BOG 2018"/>
              </a:rPr>
              <a:t>4. Select Kernel →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BOG 2018"/>
              </a:rPr>
              <a:t>   Python 3.12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4297680"/>
            <a:ext cx="3413455" cy="59436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BOG 2018"/>
              </a:rPr>
              <a:t>5. Shift+Enter →</a:t>
            </a:r>
          </a:p>
          <a:p>
            <a:pPr algn="l"/>
            <a:r>
              <a:rPr sz="1300" b="0">
                <a:solidFill>
                  <a:srgbClr val="1A1A1A"/>
                </a:solidFill>
                <a:latin typeface="BOG 2018"/>
              </a:rPr>
              <a:t>   კოდის გაშვება!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355080"/>
            <a:ext cx="11094415" cy="365760"/>
          </a:xfrm>
          <a:prstGeom prst="roundRect">
            <a:avLst>
              <a:gd name="adj" fmla="val 5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6400800"/>
            <a:ext cx="7315200" cy="301621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000" b="0" dirty="0">
                <a:solidFill>
                  <a:srgbClr val="555555"/>
                </a:solidFill>
                <a:latin typeface="BOG 2018"/>
              </a:rPr>
              <a:t>Docker &amp; Dev Containers  ·  slide </a:t>
            </a:r>
            <a:r>
              <a:rPr lang="en-US" sz="1000" b="0" dirty="0">
                <a:solidFill>
                  <a:srgbClr val="555555"/>
                </a:solidFill>
                <a:latin typeface="BOG 2018"/>
              </a:rPr>
              <a:t>18</a:t>
            </a:r>
            <a:r>
              <a:rPr sz="1000" b="0" dirty="0">
                <a:solidFill>
                  <a:srgbClr val="555555"/>
                </a:solidFill>
                <a:latin typeface="BOG 2018"/>
              </a:rPr>
              <a:t> / 2</a:t>
            </a:r>
            <a:r>
              <a:rPr lang="en-US" sz="1000" b="0" dirty="0">
                <a:solidFill>
                  <a:srgbClr val="555555"/>
                </a:solidFill>
                <a:latin typeface="BOG 2018"/>
              </a:rPr>
              <a:t>0</a:t>
            </a:r>
            <a:endParaRPr sz="1000" b="0" dirty="0">
              <a:solidFill>
                <a:srgbClr val="555555"/>
              </a:solidFill>
              <a:latin typeface="BOG 2018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1368735" y="6428232"/>
            <a:ext cx="128016" cy="128016"/>
          </a:xfrm>
          <a:prstGeom prst="ellipse">
            <a:avLst/>
          </a:prstGeom>
          <a:solidFill>
            <a:srgbClr val="FF6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365760"/>
            <a:ext cx="11094415" cy="777240"/>
          </a:xfrm>
          <a:prstGeom prst="roundRect">
            <a:avLst>
              <a:gd name="adj" fmla="val 35000"/>
            </a:avLst>
          </a:prstGeom>
          <a:solidFill>
            <a:srgbClr val="FF6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20040" tIns="91440" rtlCol="0" anchor="ctr"/>
          <a:lstStyle/>
          <a:p>
            <a:pPr algn="l"/>
            <a:r>
              <a:rPr sz="2800" b="1">
                <a:solidFill>
                  <a:srgbClr val="FFFFFF"/>
                </a:solidFill>
                <a:latin typeface="BOG 2018"/>
              </a:rPr>
              <a:t>შეჯამება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2602153" cy="3840480"/>
          </a:xfrm>
          <a:prstGeom prst="roundRect">
            <a:avLst>
              <a:gd name="adj" fmla="val 1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483956" y="182880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FF6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83956" y="1920240"/>
            <a:ext cx="731520" cy="64008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BOG 2018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2602153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800" b="1">
                <a:solidFill>
                  <a:srgbClr val="FF6022"/>
                </a:solidFill>
                <a:latin typeface="BOG 2018"/>
              </a:rPr>
              <a:t>Docker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74720"/>
            <a:ext cx="2236393" cy="18288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BOG 2018"/>
              </a:rPr>
              <a:t>აპლიკაცია + გარემო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BOG 2018"/>
              </a:rPr>
              <a:t>ერთ Container-ში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BOG 2018"/>
              </a:rPr>
              <a:t>→ reproducibility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79393" y="1554480"/>
            <a:ext cx="2602153" cy="3840480"/>
          </a:xfrm>
          <a:prstGeom prst="roundRect">
            <a:avLst>
              <a:gd name="adj" fmla="val 1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314710" y="182880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FF6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14710" y="1920240"/>
            <a:ext cx="731520" cy="64008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BOG 2018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9393" y="2834640"/>
            <a:ext cx="2602153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800" b="1">
                <a:solidFill>
                  <a:srgbClr val="FF6022"/>
                </a:solidFill>
                <a:latin typeface="BOG 2018"/>
              </a:rPr>
              <a:t>Compose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2273" y="3474720"/>
            <a:ext cx="2236393" cy="18288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BOG 2018"/>
              </a:rPr>
              <a:t>მრავალ-სერვისი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BOG 2018"/>
              </a:rPr>
              <a:t>ერთ YAML ფაილში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BOG 2018"/>
              </a:rPr>
              <a:t>→ ერთი ბრძანებით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147" y="1554480"/>
            <a:ext cx="2602153" cy="3840480"/>
          </a:xfrm>
          <a:prstGeom prst="roundRect">
            <a:avLst>
              <a:gd name="adj" fmla="val 1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145464" y="182880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FF6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45464" y="1920240"/>
            <a:ext cx="731520" cy="64008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BOG 2018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0147" y="2834640"/>
            <a:ext cx="2602153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800" b="1">
                <a:solidFill>
                  <a:srgbClr val="FF6022"/>
                </a:solidFill>
                <a:latin typeface="BOG 2018"/>
              </a:rPr>
              <a:t>Dev Container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3027" y="3474720"/>
            <a:ext cx="2236393" cy="18288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400" b="0">
                <a:solidFill>
                  <a:srgbClr val="1A1A1A"/>
                </a:solidFill>
                <a:latin typeface="BOG 2018"/>
              </a:rPr>
              <a:t>VS Code + Docker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BOG 2018"/>
              </a:rPr>
              <a:t>= იდენტური dev env</a:t>
            </a:r>
          </a:p>
          <a:p>
            <a:pPr algn="ctr"/>
            <a:r>
              <a:rPr sz="1400" b="0">
                <a:solidFill>
                  <a:srgbClr val="1A1A1A"/>
                </a:solidFill>
                <a:latin typeface="BOG 2018"/>
              </a:rPr>
              <a:t>→ ყველასთვის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0901" y="1554480"/>
            <a:ext cx="2602153" cy="3840480"/>
          </a:xfrm>
          <a:prstGeom prst="roundRect">
            <a:avLst>
              <a:gd name="adj" fmla="val 1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976218" y="182880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FF6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976218" y="1920240"/>
            <a:ext cx="731520" cy="64008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BOG 2018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0901" y="2834640"/>
            <a:ext cx="2602153" cy="45720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800" b="1">
                <a:solidFill>
                  <a:srgbClr val="FF6022"/>
                </a:solidFill>
                <a:latin typeface="BOG 2018"/>
              </a:rPr>
              <a:t>Jupyter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23781" y="3474720"/>
            <a:ext cx="2236393" cy="363176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1400" b="0" dirty="0">
                <a:solidFill>
                  <a:srgbClr val="1A1A1A"/>
                </a:solidFill>
                <a:latin typeface="BOG 2018"/>
              </a:rPr>
              <a:t>Notebook Docker-</a:t>
            </a:r>
            <a:r>
              <a:rPr sz="1400" b="0" dirty="0" err="1">
                <a:solidFill>
                  <a:srgbClr val="1A1A1A"/>
                </a:solidFill>
                <a:latin typeface="BOG 2018"/>
              </a:rPr>
              <a:t>ში</a:t>
            </a:r>
            <a:endParaRPr sz="1400" b="0" dirty="0">
              <a:solidFill>
                <a:srgbClr val="1A1A1A"/>
              </a:solidFill>
              <a:latin typeface="BOG 2018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48640" y="6355080"/>
            <a:ext cx="11094415" cy="365760"/>
          </a:xfrm>
          <a:prstGeom prst="roundRect">
            <a:avLst>
              <a:gd name="adj" fmla="val 5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6400800"/>
            <a:ext cx="7315200" cy="301621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000" b="0" dirty="0">
                <a:solidFill>
                  <a:srgbClr val="555555"/>
                </a:solidFill>
                <a:latin typeface="BOG 2018"/>
              </a:rPr>
              <a:t>Docker &amp; Dev Containers  ·  slide </a:t>
            </a:r>
            <a:r>
              <a:rPr lang="en-US" sz="1000" b="0" dirty="0">
                <a:solidFill>
                  <a:srgbClr val="555555"/>
                </a:solidFill>
                <a:latin typeface="BOG 2018"/>
              </a:rPr>
              <a:t>19</a:t>
            </a:r>
            <a:r>
              <a:rPr sz="1000" b="0" dirty="0">
                <a:solidFill>
                  <a:srgbClr val="555555"/>
                </a:solidFill>
                <a:latin typeface="BOG 2018"/>
              </a:rPr>
              <a:t> / 2</a:t>
            </a:r>
            <a:r>
              <a:rPr lang="en-US" sz="1000" b="0" dirty="0">
                <a:solidFill>
                  <a:srgbClr val="555555"/>
                </a:solidFill>
                <a:latin typeface="BOG 2018"/>
              </a:rPr>
              <a:t>0</a:t>
            </a:r>
            <a:endParaRPr sz="1000" b="0" dirty="0">
              <a:solidFill>
                <a:srgbClr val="555555"/>
              </a:solidFill>
              <a:latin typeface="BOG 2018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11368735" y="6428232"/>
            <a:ext cx="128016" cy="128016"/>
          </a:xfrm>
          <a:prstGeom prst="ellipse">
            <a:avLst/>
          </a:prstGeom>
          <a:solidFill>
            <a:srgbClr val="FF6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828800" y="2194560"/>
            <a:ext cx="8534095" cy="1828800"/>
          </a:xfrm>
          <a:prstGeom prst="roundRect">
            <a:avLst>
              <a:gd name="adj" fmla="val 30000"/>
            </a:avLst>
          </a:prstGeom>
          <a:solidFill>
            <a:srgbClr val="FF60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2606040"/>
            <a:ext cx="8534095" cy="1097280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BOG 2018"/>
              </a:rPr>
              <a:t>კითხვები?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6355080"/>
            <a:ext cx="11094415" cy="365760"/>
          </a:xfrm>
          <a:prstGeom prst="roundRect">
            <a:avLst>
              <a:gd name="adj" fmla="val 50000"/>
            </a:avLst>
          </a:prstGeom>
          <a:solidFill>
            <a:srgbClr val="E6D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6400800"/>
            <a:ext cx="7315200" cy="301621"/>
          </a:xfrm>
          <a:prstGeom prst="rect">
            <a:avLst/>
          </a:prstGeom>
          <a:noFill/>
        </p:spPr>
        <p:txBody>
          <a:bodyPr wrap="square" lIns="137160" tIns="73152" rIns="137160" bIns="73152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BOG 2018"/>
              </a:rPr>
              <a:t>Docker &amp; Dev Containers  ·  slide 2</a:t>
            </a:r>
            <a:r>
              <a:rPr lang="en-US" sz="1000" b="0">
                <a:solidFill>
                  <a:srgbClr val="555555"/>
                </a:solidFill>
                <a:latin typeface="BOG 2018"/>
              </a:rPr>
              <a:t>0</a:t>
            </a:r>
            <a:r>
              <a:rPr sz="1000" b="0">
                <a:solidFill>
                  <a:srgbClr val="555555"/>
                </a:solidFill>
                <a:latin typeface="BOG 2018"/>
              </a:rPr>
              <a:t> / 2</a:t>
            </a:r>
            <a:r>
              <a:rPr lang="en-US" sz="1000" b="0">
                <a:solidFill>
                  <a:srgbClr val="555555"/>
                </a:solidFill>
                <a:latin typeface="BOG 2018"/>
              </a:rPr>
              <a:t>0</a:t>
            </a:r>
            <a:endParaRPr sz="1000" b="0">
              <a:solidFill>
                <a:srgbClr val="555555"/>
              </a:solidFill>
              <a:latin typeface="BOG 2018"/>
            </a:endParaRPr>
          </a:p>
        </p:txBody>
      </p:sp>
      <p:sp>
        <p:nvSpPr>
          <p:cNvPr id="9" name="Oval 8"/>
          <p:cNvSpPr/>
          <p:nvPr/>
        </p:nvSpPr>
        <p:spPr>
          <a:xfrm>
            <a:off x="11368735" y="6428232"/>
            <a:ext cx="128016" cy="128016"/>
          </a:xfrm>
          <a:prstGeom prst="ellipse">
            <a:avLst/>
          </a:prstGeom>
          <a:solidFill>
            <a:srgbClr val="FF6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1724</Words>
  <Application>Microsoft Office PowerPoint</Application>
  <PresentationFormat>Widescreen</PresentationFormat>
  <Paragraphs>402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BOG 2018</vt:lpstr>
      <vt:lpstr>Calibri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Ketevan Otiashvili</cp:lastModifiedBy>
  <cp:revision>15</cp:revision>
  <dcterms:created xsi:type="dcterms:W3CDTF">2013-01-27T09:14:16Z</dcterms:created>
  <dcterms:modified xsi:type="dcterms:W3CDTF">2026-04-20T20:04:03Z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LPManualFileClassification">
    <vt:lpwstr>{BD15A7F3-68A3-44DA-88DE-84F8F8C88452}</vt:lpwstr>
  </property>
  <property fmtid="{D5CDD505-2E9C-101B-9397-08002B2CF9AE}" pid="3" name="DLPManualFileClassificationLastModifiedBy">
    <vt:lpwstr>BOG0\kotiashvili</vt:lpwstr>
  </property>
  <property fmtid="{D5CDD505-2E9C-101B-9397-08002B2CF9AE}" pid="4" name="DLPManualFileClassificationLastModificationDate">
    <vt:lpwstr>1776708250</vt:lpwstr>
  </property>
  <property fmtid="{D5CDD505-2E9C-101B-9397-08002B2CF9AE}" pid="5" name="DLPManualFileClassificationVersion">
    <vt:lpwstr>11.11.2.117</vt:lpwstr>
  </property>
</Properties>
</file>